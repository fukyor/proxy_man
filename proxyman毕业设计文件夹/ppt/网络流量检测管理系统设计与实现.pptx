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6" r:id="rId7"/>
    <p:sldId id="268" r:id="rId8"/>
    <p:sldId id="265" r:id="rId9"/>
    <p:sldId id="271" r:id="rId10"/>
    <p:sldId id="279" r:id="rId11"/>
    <p:sldId id="280" r:id="rId12"/>
    <p:sldId id="281" r:id="rId13"/>
    <p:sldId id="273" r:id="rId14"/>
    <p:sldId id="288" r:id="rId15"/>
    <p:sldId id="272" r:id="rId16"/>
    <p:sldId id="282" r:id="rId17"/>
    <p:sldId id="283" r:id="rId18"/>
    <p:sldId id="284" r:id="rId19"/>
    <p:sldId id="287" r:id="rId20"/>
    <p:sldId id="285" r:id="rId21"/>
    <p:sldId id="286" r:id="rId22"/>
    <p:sldId id="289" r:id="rId23"/>
    <p:sldId id="291" r:id="rId24"/>
    <p:sldId id="290" r:id="rId25"/>
    <p:sldId id="293" r:id="rId26"/>
    <p:sldId id="274" r:id="rId27"/>
    <p:sldId id="275" r:id="rId28"/>
    <p:sldId id="276" r:id="rId29"/>
    <p:sldId id="278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Objects="1">
      <p:cViewPr>
        <p:scale>
          <a:sx n="75" d="100"/>
          <a:sy n="75" d="100"/>
        </p:scale>
        <p:origin x="946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7A6B-1453-F21D-E40F-3BF1CFF6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F34BD9-2BE1-8ECC-5A51-55B4A0C3D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0EA20-EEDB-78F1-5B88-70E51800D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1D3E0-DB41-06D4-5249-8789485C4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826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36DB5-F20C-739C-B2F0-A13F9B3DE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BAACB-0D84-65D0-ADDE-35FCD8DDE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B66E6-7FC7-B949-D51D-4FF32B5E1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C0318-AF2C-4641-CEB4-F4AB17643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450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FFD26-843E-D261-94EB-F94B2D4A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897EC-D13E-FC7D-780D-359E05931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99E06-6AEE-1DD5-002B-CB513BD93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55A79-A66B-419B-4327-050FF0170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766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7371-FA09-3551-2D03-23E7E30BB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5DE45-5947-58A7-FC61-86E90D944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7F6A3-416A-0E1E-BF80-C8AA249CE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66751-7363-3B91-8348-E9BF00A9C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93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894F2-689D-F00B-8626-856CE535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ECBB7-1B8F-7776-7F73-4A7C05BEE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72306-251B-AED7-DA9F-CA2E61B6F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517EF-30E1-2D08-915B-233C6F13F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068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2E8F7-FFFD-F52F-DD20-C4367F65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6CCE0-4558-CFBF-30F3-6C841A5D8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9C43B-857E-D417-38C3-15554875E9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E11BE-834D-944A-61D0-9C45F3785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815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A5B3-671D-6345-37DD-B7A48632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535F6-93AC-ADE7-3978-756869BAB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27A52-9CC7-486D-9F31-033909023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CA924-E67E-F1D5-172A-F03A7B0F0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751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0344-63AC-2116-7C11-D7B62F44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F87E0-6E52-09AB-CCF6-E855E1A31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64448-1550-513D-BCDC-4CCD37BA7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720B9-5F46-8578-F311-CEE8A8B7F4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491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ABDE-CC1B-9F7B-36F1-E394E696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06916-D92C-CBE3-B499-69E44A2F7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EC73C-5B43-DCD9-5903-639F0A128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7B658-C9CD-DECD-3D4C-A5C345D95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54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7E91-01C8-3244-11E8-BFD3E5A6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5F2DD-F393-9235-CCE9-3BD6D0164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CE241-0E79-F03C-D7CB-BC6278D3A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65D6F-3060-D8A2-F9A4-771B2F9FDF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961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F6A1B-3006-AEFE-F2D1-39D1BBF2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04821-ACFD-3268-AB9D-345BD79A7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2BB4B-EBDF-DBD3-E566-87DF857CA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48870-680D-471A-D13E-D040A0935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2437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D2505-C8AA-2763-B3FD-1ED9C3348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9A228-CD10-5219-3E21-23ECDA1A71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553DF-00F4-BD79-A1F7-6A31814DA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8E94-0ECD-902A-870B-D86E126533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791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6CA29-01AF-92DB-BBE6-6CC82AD63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3A74E-3F13-0475-AB16-D51A318E15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C3CB2-090D-014D-4E4B-F0FE17B9F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D325D-0A6B-A995-FA38-B652D5FCE2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1374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46CF-936A-770D-B382-A43CF1AA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F403C4-6A14-8A2D-691C-2FEAD7253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7923E7-00B1-40B0-86AE-60105E991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9FD32-C6F7-3313-BFC7-ACE398A236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0448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2026/5/23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g"/><Relationship Id="rId9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0" Type="http://schemas.microsoft.com/office/2007/relationships/hdphoto" Target="../media/hdphoto2.wdp"/><Relationship Id="rId4" Type="http://schemas.openxmlformats.org/officeDocument/2006/relationships/image" Target="../media/image30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6.png"/><Relationship Id="rId10" Type="http://schemas.openxmlformats.org/officeDocument/2006/relationships/image" Target="../media/image39.png"/><Relationship Id="rId4" Type="http://schemas.openxmlformats.org/officeDocument/2006/relationships/image" Target="../media/image13.png"/><Relationship Id="rId9" Type="http://schemas.openxmlformats.org/officeDocument/2006/relationships/image" Target="../media/image3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6.png"/><Relationship Id="rId10" Type="http://schemas.openxmlformats.org/officeDocument/2006/relationships/image" Target="../media/image42.png"/><Relationship Id="rId4" Type="http://schemas.openxmlformats.org/officeDocument/2006/relationships/image" Target="../media/image13.png"/><Relationship Id="rId9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3.png"/><Relationship Id="rId10" Type="http://schemas.openxmlformats.org/officeDocument/2006/relationships/image" Target="../media/image52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1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6.png"/><Relationship Id="rId7" Type="http://schemas.microsoft.com/office/2007/relationships/hdphoto" Target="../media/hdphoto2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30.png"/><Relationship Id="rId9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3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11" Type="http://schemas.microsoft.com/office/2007/relationships/hdphoto" Target="../media/hdphoto2.wdp"/><Relationship Id="rId5" Type="http://schemas.openxmlformats.org/officeDocument/2006/relationships/image" Target="../media/image73.png"/><Relationship Id="rId10" Type="http://schemas.openxmlformats.org/officeDocument/2006/relationships/image" Target="../media/image2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84.png"/><Relationship Id="rId3" Type="http://schemas.openxmlformats.org/officeDocument/2006/relationships/image" Target="../media/image3.png"/><Relationship Id="rId7" Type="http://schemas.openxmlformats.org/officeDocument/2006/relationships/image" Target="../media/image81.png"/><Relationship Id="rId12" Type="http://schemas.microsoft.com/office/2007/relationships/hdphoto" Target="../media/hdphoto2.wdp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2.png"/><Relationship Id="rId5" Type="http://schemas.openxmlformats.org/officeDocument/2006/relationships/image" Target="../media/image79.png"/><Relationship Id="rId10" Type="http://schemas.openxmlformats.org/officeDocument/2006/relationships/image" Target="../media/image83.png"/><Relationship Id="rId4" Type="http://schemas.openxmlformats.org/officeDocument/2006/relationships/image" Target="../media/image78.png"/><Relationship Id="rId9" Type="http://schemas.openxmlformats.org/officeDocument/2006/relationships/image" Target="../media/image82.png"/><Relationship Id="rId1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第一页背景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43000" y="1785938"/>
            <a:ext cx="76200" cy="7620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1295400" y="1819275"/>
            <a:ext cx="457200" cy="95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1905000" y="1690688"/>
            <a:ext cx="466344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SYSTEM DESIGN &amp; IMPLEMENTATION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3"/>
          <p:cNvSpPr/>
          <p:nvPr/>
        </p:nvSpPr>
        <p:spPr>
          <a:xfrm>
            <a:off x="1143000" y="2262188"/>
            <a:ext cx="9966960" cy="133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网络流量检测管理系统</a:t>
            </a:r>
            <a:endParaRPr lang="en-US" sz="4200" dirty="0"/>
          </a:p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设计与实现</a:t>
            </a:r>
            <a:endParaRPr lang="en-US" sz="4200" dirty="0"/>
          </a:p>
        </p:txBody>
      </p:sp>
      <p:sp>
        <p:nvSpPr>
          <p:cNvPr id="12" name="Text 6"/>
          <p:cNvSpPr/>
          <p:nvPr/>
        </p:nvSpPr>
        <p:spPr>
          <a:xfrm>
            <a:off x="1143000" y="4900613"/>
            <a:ext cx="1013155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kern="0" spc="150" dirty="0">
                <a:solidFill>
                  <a:srgbClr val="6B7B94"/>
                </a:solidFill>
                <a:latin typeface="+mj-ea"/>
                <a:ea typeface="+mj-ea"/>
                <a:cs typeface="MiSans" pitchFamily="34" charset="-120"/>
              </a:rPr>
              <a:t>2026年05月18日</a:t>
            </a:r>
            <a:endParaRPr lang="en-US" sz="1500" dirty="0">
              <a:latin typeface="+mj-ea"/>
              <a:ea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9C496F-2F2D-E722-223E-1985229E8EE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A7E5450-C412-D4E8-B62A-2D875A88D1E9}"/>
              </a:ext>
            </a:extLst>
          </p:cNvPr>
          <p:cNvSpPr txBox="1"/>
          <p:nvPr/>
        </p:nvSpPr>
        <p:spPr>
          <a:xfrm>
            <a:off x="4213860" y="3954780"/>
            <a:ext cx="30403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答辩人：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郭子谊</a:t>
            </a:r>
            <a:r>
              <a:rPr lang="en-US" altLang="zh-CN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000" b="1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lang="en-US" altLang="zh-CN" sz="2000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导师：</a:t>
            </a:r>
            <a:r>
              <a:rPr lang="en-US" altLang="zh-CN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范 伟</a:t>
            </a:r>
            <a:r>
              <a:rPr lang="en-US" altLang="zh-CN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000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en-US" altLang="zh-CN" sz="2000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职称：</a:t>
            </a:r>
            <a:r>
              <a:rPr lang="en-US" altLang="zh-CN" sz="20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副教授</a:t>
            </a:r>
            <a:r>
              <a:rPr lang="en-US" altLang="zh-CN" sz="2000" b="1" u="sng" dirty="0">
                <a:solidFill>
                  <a:schemeClr val="accent3">
                    <a:lumMod val="40000"/>
                    <a:lumOff val="6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000" b="1" u="sng" dirty="0">
              <a:solidFill>
                <a:schemeClr val="accent3">
                  <a:lumMod val="40000"/>
                  <a:lumOff val="6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0D4FF">
                  <a:alpha val="8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0"/>
          </a:gra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162855" y="1238250"/>
            <a:ext cx="1920240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600" b="1" dirty="0">
                <a:gradFill rotWithShape="1">
                  <a:gsLst>
                    <a:gs pos="0">
                      <a:srgbClr val="E0F7FF"/>
                    </a:gs>
                    <a:gs pos="100000">
                      <a:srgbClr val="8B5CF6"/>
                    </a:gs>
                  </a:gsLst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目录概览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33500" y="23050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7825" y="25527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93144" y="26098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系统概述与背景研究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10300" y="23050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2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4625" y="255270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72325" y="2609850"/>
            <a:ext cx="1929384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系统关键技术分析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333500" y="34861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3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7825" y="373380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93144" y="37909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系统需求与总体设计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10300" y="34861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4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24625" y="373380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69944" y="37909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系统详细设计与实现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333500" y="4667250"/>
            <a:ext cx="4648200" cy="952500"/>
          </a:xfrm>
          <a:prstGeom prst="roundRect">
            <a:avLst>
              <a:gd name="adj" fmla="val 16000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5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47825" y="4914900"/>
            <a:ext cx="457200" cy="4572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93144" y="4972050"/>
            <a:ext cx="2176272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3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系统测试与总结展望</a:t>
            </a:r>
            <a:endParaRPr lang="en-US" sz="18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1D0F5B4-0E6A-A11F-B310-E2B09693DB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4400" y="2324100"/>
            <a:ext cx="457200" cy="9525"/>
          </a:xfrm>
          <a:prstGeom prst="rect">
            <a:avLst/>
          </a:prstGeom>
        </p:spPr>
      </p:pic>
      <p:pic>
        <p:nvPicPr>
          <p:cNvPr id="5" name="Image 3"/>
          <p:cNvPicPr>
            <a:picLocks noChangeAspect="1"/>
          </p:cNvPicPr>
          <p:nvPr/>
        </p:nvPicPr>
        <p:blipFill>
          <a:blip r:embed="rId5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" y="5081"/>
            <a:ext cx="12192000" cy="68529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2000" y="2290763"/>
            <a:ext cx="76200" cy="7620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  <a:effectLst>
            <a:outerShdw blurRad="76200" dist="50800" dir="16200000" algn="bl" rotWithShape="0">
              <a:srgbClr val="00D4FF">
                <a:alpha val="7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1"/>
          <p:cNvSpPr/>
          <p:nvPr/>
        </p:nvSpPr>
        <p:spPr>
          <a:xfrm>
            <a:off x="1525935" y="2195513"/>
            <a:ext cx="4123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00D4FF">
                    <a:alpha val="90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SYSTEM OVERVIEW &amp; RESEARCH</a:t>
            </a:r>
            <a:endParaRPr lang="en-US" sz="135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2"/>
          <p:cNvSpPr/>
          <p:nvPr/>
        </p:nvSpPr>
        <p:spPr>
          <a:xfrm>
            <a:off x="762000" y="2767013"/>
            <a:ext cx="10936224" cy="66751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系统概述与背景研究</a:t>
            </a:r>
            <a:endParaRPr lang="en-US" sz="4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EEA414-5E98-6F12-3703-0A26394AA10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0577" y="201930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  <a:effectLst>
            <a:outerShdw blurRad="476250" dist="190500" dir="54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261937"/>
            <a:ext cx="2487168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项目背景与意义</a:t>
            </a:r>
            <a:endParaRPr lang="en-US" sz="2700" dirty="0"/>
          </a:p>
        </p:txBody>
      </p:sp>
      <p:pic>
        <p:nvPicPr>
          <p:cNvPr id="6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1276350"/>
            <a:ext cx="8458200" cy="1666875"/>
          </a:xfrm>
          <a:prstGeom prst="roundRect">
            <a:avLst>
              <a:gd name="adj" fmla="val 9143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90525" y="1285875"/>
            <a:ext cx="38100" cy="16478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81000" y="3133725"/>
            <a:ext cx="8458200" cy="1666875"/>
          </a:xfrm>
          <a:prstGeom prst="roundRect">
            <a:avLst>
              <a:gd name="adj" fmla="val 9143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90525" y="3143250"/>
            <a:ext cx="38100" cy="1647825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81000" y="4991100"/>
            <a:ext cx="8458200" cy="1666875"/>
          </a:xfrm>
          <a:prstGeom prst="roundRect">
            <a:avLst>
              <a:gd name="adj" fmla="val 9143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94A3B8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90525" y="5000625"/>
            <a:ext cx="38100" cy="1647825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9144000" y="1238250"/>
            <a:ext cx="2667000" cy="5457825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 w="9525">
            <a:solidFill>
              <a:srgbClr val="FFFFFF">
                <a:alpha val="5000"/>
              </a:srgbClr>
            </a:solidFill>
          </a:ln>
          <a:effectLst>
            <a:outerShdw blurRad="285750" dist="95250" dir="5400000" algn="bl" rotWithShape="0">
              <a:srgbClr val="002B36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19125" y="1843088"/>
            <a:ext cx="533400" cy="533400"/>
          </a:xfrm>
          <a:prstGeom prst="roundRect">
            <a:avLst>
              <a:gd name="adj" fmla="val 214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2475" y="1976438"/>
            <a:ext cx="266700" cy="2667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3025" y="1659731"/>
            <a:ext cx="71963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开发调试与安全观测需求增长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43025" y="2000250"/>
            <a:ext cx="7050024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Web应用复杂度提升，代理系统需超越转发，提供</a:t>
            </a: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实时监控、策略配置与抓包留存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等综合能力。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19125" y="3700463"/>
            <a:ext cx="533400" cy="533400"/>
          </a:xfrm>
          <a:prstGeom prst="roundRect">
            <a:avLst>
              <a:gd name="adj" fmla="val 214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2475" y="3833812"/>
            <a:ext cx="266700" cy="2667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43025" y="3656409"/>
            <a:ext cx="71963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传统工具在</a:t>
            </a:r>
            <a:r>
              <a:rPr lang="zh-CN" alt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可视化流量</a:t>
            </a:r>
            <a:r>
              <a:rPr lang="en-US" sz="15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管理上的局限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343025" y="4000500"/>
            <a:ext cx="7196328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现有工具内部链路复杂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且没有直观的网关管理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；在</a:t>
            </a:r>
            <a:r>
              <a:rPr lang="en-US" sz="135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可视化集中管理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方面存在明显不足。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19125" y="5557838"/>
            <a:ext cx="533400" cy="533400"/>
          </a:xfrm>
          <a:prstGeom prst="roundRect">
            <a:avLst>
              <a:gd name="adj" fmla="val 2142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2475" y="5691188"/>
            <a:ext cx="266700" cy="2667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43025" y="5374481"/>
            <a:ext cx="719632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本课题的工程实践价值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343025" y="5715000"/>
            <a:ext cx="7050024" cy="5669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94"/>
              </a:lnSpc>
              <a:buNone/>
            </a:pPr>
            <a:r>
              <a:rPr lang="en-US" sz="135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</a:t>
            </a:r>
            <a:r>
              <a:rPr lang="en-US" sz="1350" b="1" dirty="0" err="1">
                <a:solidFill>
                  <a:srgbClr val="38BDF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可视化网络代理管理系统</a:t>
            </a:r>
            <a:r>
              <a:rPr lang="en-US" sz="1350" dirty="0" err="1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，集成代理转发、实时观测与抓包分析</a:t>
            </a:r>
            <a:r>
              <a:rPr lang="zh-CN" alt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，用户管理，安全网关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10248900" y="2566988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5" descr="image.png"/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0363200" y="2681288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894456" y="3252788"/>
            <a:ext cx="117957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kern="0" spc="180" dirty="0">
                <a:solidFill>
                  <a:srgbClr val="FFFFFF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9894284" y="3443288"/>
            <a:ext cx="1197864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系统目标</a:t>
            </a:r>
            <a:endParaRPr lang="en-US" sz="2250" dirty="0"/>
          </a:p>
        </p:txBody>
      </p:sp>
      <p:sp>
        <p:nvSpPr>
          <p:cNvPr id="30" name="Text 22"/>
          <p:cNvSpPr/>
          <p:nvPr/>
        </p:nvSpPr>
        <p:spPr>
          <a:xfrm>
            <a:off x="10325100" y="4014788"/>
            <a:ext cx="304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10000183" y="4262438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00D4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10181909" y="4262438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代理转发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10000183" y="4681538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8B5CF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10181909" y="4681538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实时观测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10000183" y="5100638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38BDF8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10181909" y="5100638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抓包分析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11893" y="6315075"/>
            <a:ext cx="1344168" cy="1463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kern="0" spc="220" dirty="0">
                <a:solidFill>
                  <a:srgbClr val="FFFFFF">
                    <a:alpha val="3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CONTEXT</a:t>
            </a:r>
            <a:endParaRPr lang="en-US" sz="75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45B91658-315F-F80C-74AA-083580353EB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  <p:sp>
        <p:nvSpPr>
          <p:cNvPr id="44" name="Text 25">
            <a:extLst>
              <a:ext uri="{FF2B5EF4-FFF2-40B4-BE49-F238E27FC236}">
                <a16:creationId xmlns:a16="http://schemas.microsoft.com/office/drawing/2014/main" id="{A4C11E67-1792-D739-CC0C-A832EAB93B06}"/>
              </a:ext>
            </a:extLst>
          </p:cNvPr>
          <p:cNvSpPr/>
          <p:nvPr/>
        </p:nvSpPr>
        <p:spPr>
          <a:xfrm>
            <a:off x="10000183" y="5482590"/>
            <a:ext cx="20116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kern="0" spc="30" dirty="0">
                <a:solidFill>
                  <a:srgbClr val="8B5CF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●</a:t>
            </a:r>
            <a:endParaRPr lang="en-US" sz="1350" dirty="0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E358A4F0-7EBD-EC5B-5825-67F982D29279}"/>
              </a:ext>
            </a:extLst>
          </p:cNvPr>
          <p:cNvSpPr/>
          <p:nvPr/>
        </p:nvSpPr>
        <p:spPr>
          <a:xfrm>
            <a:off x="10177920" y="5469756"/>
            <a:ext cx="896112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350" b="1" kern="0" spc="3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</a:rPr>
              <a:t>行为管理</a:t>
            </a:r>
            <a:endParaRPr lang="en-US" sz="1350" b="1" kern="0" spc="30" dirty="0">
              <a:solidFill>
                <a:srgbClr val="FFFFFF">
                  <a:alpha val="90000"/>
                </a:srgbClr>
              </a:solidFill>
              <a:latin typeface="MiSans" pitchFamily="34" charset="0"/>
              <a:ea typeface="MiSans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60270" y="86023"/>
            <a:ext cx="12252269" cy="6858000"/>
          </a:xfrm>
          <a:prstGeom prst="rect">
            <a:avLst/>
          </a:prstGeom>
        </p:spPr>
      </p:pic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685800"/>
            <a:ext cx="762000" cy="38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1000" y="190500"/>
            <a:ext cx="11695176" cy="3474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国内外研究现状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381000" y="1152525"/>
            <a:ext cx="5600700" cy="3610273"/>
          </a:xfrm>
          <a:prstGeom prst="roundRect">
            <a:avLst>
              <a:gd name="adj" fmla="val 2111"/>
            </a:avLst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81025" y="13525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3888" y="1371600"/>
            <a:ext cx="219075" cy="2667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0125" y="1371600"/>
            <a:ext cx="25511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网络代理与抓包工具发展现状</a:t>
            </a:r>
            <a:endParaRPr lang="en-US" sz="1500" dirty="0"/>
          </a:p>
        </p:txBody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1025" y="1809750"/>
            <a:ext cx="133350" cy="762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8675" y="1771650"/>
            <a:ext cx="4974336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成熟工具功能全面但复杂</a:t>
            </a:r>
            <a:r>
              <a:rPr lang="en-US" sz="135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：。</a:t>
            </a:r>
            <a:r>
              <a:rPr lang="en-US" altLang="zh-CN" sz="1350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现有成熟代理工具（如Fiddler、Charles）已具备请求查看、规则匹配、证书管理、响应改写、日志分析等完整功能，在开发与测试中价值显著</a:t>
            </a:r>
            <a:endParaRPr lang="en-US" sz="135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1025" y="2724150"/>
            <a:ext cx="133350" cy="762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8675" y="2686050"/>
            <a:ext cx="4974336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存在</a:t>
            </a:r>
            <a:r>
              <a:rPr lang="zh-CN" altLang="en-US" sz="135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功能单一和</a:t>
            </a:r>
            <a:r>
              <a:rPr lang="en-US" sz="135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学习成本</a:t>
            </a:r>
            <a:r>
              <a:rPr lang="en-US" sz="1350" dirty="0" err="1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：C</a:t>
            </a:r>
            <a:r>
              <a:rPr lang="en-US" altLang="zh-CN" sz="1350" dirty="0" err="1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harles</a:t>
            </a:r>
            <a:r>
              <a:rPr lang="zh-CN" alt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等工具没有集成用户管理的功能不适合运维平台，且有一定学习成本。</a:t>
            </a:r>
            <a:r>
              <a:rPr lang="en-US" altLang="zh-CN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Nginx </a:t>
            </a:r>
            <a:r>
              <a:rPr lang="zh-CN" alt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是反向代理工具，正向代理能力不足。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7"/>
          <p:cNvSpPr/>
          <p:nvPr/>
        </p:nvSpPr>
        <p:spPr>
          <a:xfrm>
            <a:off x="6210300" y="1152525"/>
            <a:ext cx="5600700" cy="3610273"/>
          </a:xfrm>
          <a:prstGeom prst="roundRect">
            <a:avLst>
              <a:gd name="adj" fmla="val 2111"/>
            </a:avLst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6410325" y="13525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5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77000" y="1371600"/>
            <a:ext cx="171450" cy="266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29425" y="1371600"/>
            <a:ext cx="215798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本系统的定位与设计重点</a:t>
            </a:r>
            <a:endParaRPr lang="en-US" sz="1500" dirty="0"/>
          </a:p>
        </p:txBody>
      </p:sp>
      <p:pic>
        <p:nvPicPr>
          <p:cNvPr id="18" name="Image 6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10325" y="1809750"/>
            <a:ext cx="133350" cy="10287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657974" y="1771650"/>
            <a:ext cx="5068969" cy="10698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</a:t>
            </a:r>
            <a:r>
              <a:rPr lang="zh-CN" altLang="en-US" sz="135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代理</a:t>
            </a:r>
            <a:r>
              <a:rPr lang="en-US" sz="135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核心链</a:t>
            </a:r>
            <a:r>
              <a:rPr lang="zh-CN" altLang="en-US" sz="135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路集成运维功能一体</a:t>
            </a:r>
            <a:r>
              <a:rPr lang="en-US" sz="135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1350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重点在于实现代理转发</a:t>
            </a:r>
            <a:r>
              <a:rPr lang="en-US" sz="1350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350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</a:t>
            </a:r>
            <a:r>
              <a:rPr lang="en-US" sz="1350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匹配、实时监控与数据留存的工程化整合与可视化呈现</a:t>
            </a:r>
            <a:r>
              <a:rPr lang="en-US" sz="1350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350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便于用户能够可视化管理网络流量</a:t>
            </a:r>
            <a:endParaRPr lang="en-US" sz="1350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81000" y="4991398"/>
            <a:ext cx="5600700" cy="3610273"/>
          </a:xfrm>
          <a:prstGeom prst="roundRect">
            <a:avLst>
              <a:gd name="adj" fmla="val 2111"/>
            </a:avLst>
          </a:prstGeom>
          <a:noFill/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6"/>
          <p:cNvSpPr/>
          <p:nvPr/>
        </p:nvSpPr>
        <p:spPr>
          <a:xfrm>
            <a:off x="581025" y="5191423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8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38175" y="3662511"/>
            <a:ext cx="190500" cy="2667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04875" y="3706630"/>
            <a:ext cx="236829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Web化运维控制台发展现状</a:t>
            </a:r>
            <a:endParaRPr lang="en-US" sz="1500" dirty="0">
              <a:latin typeface="+mn-ea"/>
            </a:endParaRPr>
          </a:p>
        </p:txBody>
      </p:sp>
      <p:pic>
        <p:nvPicPr>
          <p:cNvPr id="29" name="Image 9" descr="im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62565" y="4153198"/>
            <a:ext cx="152400" cy="7620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904875" y="4097143"/>
            <a:ext cx="4956048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从命令行到可视化控制台的演进：</a:t>
            </a:r>
            <a:r>
              <a:rPr lang="en-US" sz="1350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随着系统数据规模增长，运维工具逐渐从命令行输出转向Web化控制台，以提供更直观的实时状态监控与管理界面。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21BAB9D6-1199-BC81-4704-BA3220765418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07530" y="189782"/>
            <a:ext cx="1560582" cy="1448220"/>
          </a:xfrm>
          <a:prstGeom prst="rect">
            <a:avLst/>
          </a:prstGeom>
          <a:noFill/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74C2B29B-F49E-C088-91B0-F5065E4406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4798" y="2865948"/>
            <a:ext cx="5420080" cy="3252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 r="-915"/>
          <a:stretch/>
        </p:blipFill>
        <p:spPr>
          <a:xfrm>
            <a:off x="-304800" y="-17145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 t="9386" b="93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000" y="1824038"/>
            <a:ext cx="76200" cy="7620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914400" y="1857375"/>
            <a:ext cx="457200" cy="9525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1525935" y="1728788"/>
            <a:ext cx="409651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rgbClr val="00D4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 DESIGN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762000" y="2300288"/>
            <a:ext cx="10725912" cy="133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系统总体设计</a:t>
            </a:r>
            <a:endParaRPr lang="en-US" sz="4200" dirty="0"/>
          </a:p>
        </p:txBody>
      </p:sp>
      <p:sp>
        <p:nvSpPr>
          <p:cNvPr id="9" name="Shape 4"/>
          <p:cNvSpPr/>
          <p:nvPr/>
        </p:nvSpPr>
        <p:spPr>
          <a:xfrm>
            <a:off x="762000" y="3862387"/>
            <a:ext cx="0" cy="619125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5"/>
          <p:cNvSpPr/>
          <p:nvPr/>
        </p:nvSpPr>
        <p:spPr>
          <a:xfrm>
            <a:off x="1028700" y="3862387"/>
            <a:ext cx="6153912" cy="621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438"/>
              </a:lnSpc>
              <a:buNone/>
            </a:pPr>
            <a:r>
              <a:rPr lang="en-US" sz="1500" kern="0" spc="30" dirty="0" err="1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构建高效、安全的网络流量检测体系，详细解析系统核心需求与总体架构，实现全方位的网络监控与管理</a:t>
            </a:r>
            <a:r>
              <a:rPr lang="en-US" sz="1500" kern="0" spc="3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500" dirty="0"/>
          </a:p>
        </p:txBody>
      </p:sp>
      <p:pic>
        <p:nvPicPr>
          <p:cNvPr id="11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2000" y="4786313"/>
            <a:ext cx="361950" cy="342900"/>
          </a:xfrm>
          <a:prstGeom prst="rect">
            <a:avLst/>
          </a:prstGeom>
        </p:spPr>
      </p:pic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52550" y="4786313"/>
            <a:ext cx="285750" cy="342900"/>
          </a:xfrm>
          <a:prstGeom prst="rect">
            <a:avLst/>
          </a:prstGeom>
        </p:spPr>
      </p:pic>
      <p:pic>
        <p:nvPicPr>
          <p:cNvPr id="13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866900" y="4786313"/>
            <a:ext cx="285750" cy="3429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E6342A6-5806-CFAC-6F35-F86567A02919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0"/>
            <a:ext cx="12261667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28613"/>
            <a:ext cx="2834640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系统总体架构设计</a:t>
            </a:r>
            <a:endParaRPr lang="en-US" sz="2700" dirty="0"/>
          </a:p>
        </p:txBody>
      </p:sp>
      <p:sp>
        <p:nvSpPr>
          <p:cNvPr id="11" name="Text 5"/>
          <p:cNvSpPr/>
          <p:nvPr/>
        </p:nvSpPr>
        <p:spPr>
          <a:xfrm>
            <a:off x="3228975" y="1120330"/>
            <a:ext cx="5600700" cy="3140869"/>
          </a:xfrm>
          <a:prstGeom prst="roundRect">
            <a:avLst>
              <a:gd name="adj" fmla="val 3639"/>
            </a:avLst>
          </a:prstGeom>
          <a:solidFill>
            <a:srgbClr val="0F172A">
              <a:alpha val="75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6"/>
          <p:cNvSpPr/>
          <p:nvPr/>
        </p:nvSpPr>
        <p:spPr>
          <a:xfrm>
            <a:off x="3391472" y="2254497"/>
            <a:ext cx="609600" cy="609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7"/>
          <p:cNvSpPr/>
          <p:nvPr/>
        </p:nvSpPr>
        <p:spPr>
          <a:xfrm>
            <a:off x="3391472" y="2254497"/>
            <a:ext cx="64008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🌐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3374898" y="2948845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客户端请求</a:t>
            </a:r>
            <a:endParaRPr lang="en-US" sz="1050" dirty="0"/>
          </a:p>
        </p:txBody>
      </p:sp>
      <p:pic>
        <p:nvPicPr>
          <p:cNvPr id="16" name="Image 5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34422" y="2683122"/>
            <a:ext cx="1409700" cy="190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39272" y="2606922"/>
            <a:ext cx="600075" cy="171450"/>
          </a:xfrm>
          <a:prstGeom prst="roundRect">
            <a:avLst>
              <a:gd name="adj" fmla="val 22222"/>
            </a:avLst>
          </a:prstGeom>
          <a:solidFill>
            <a:srgbClr val="0D1525"/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0"/>
          <p:cNvSpPr/>
          <p:nvPr/>
        </p:nvSpPr>
        <p:spPr>
          <a:xfrm>
            <a:off x="4839272" y="2606922"/>
            <a:ext cx="630936" cy="173736"/>
          </a:xfrm>
          <a:prstGeom prst="rect">
            <a:avLst/>
          </a:prstGeom>
          <a:noFill/>
          <a:ln/>
        </p:spPr>
        <p:txBody>
          <a:bodyPr vert="horz" wrap="none" lIns="38100" tIns="0" rIns="3810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分流/解析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5620322" y="2254497"/>
            <a:ext cx="609600" cy="609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5620322" y="2254497"/>
            <a:ext cx="64008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⚙️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5603748" y="2948845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责任链处理</a:t>
            </a:r>
            <a:endParaRPr lang="en-US" sz="1050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63272" y="2683122"/>
            <a:ext cx="1409700" cy="1905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68122" y="2606922"/>
            <a:ext cx="600075" cy="171450"/>
          </a:xfrm>
          <a:prstGeom prst="roundRect">
            <a:avLst>
              <a:gd name="adj" fmla="val 22222"/>
            </a:avLst>
          </a:prstGeom>
          <a:solidFill>
            <a:srgbClr val="0D1525"/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5"/>
          <p:cNvSpPr/>
          <p:nvPr/>
        </p:nvSpPr>
        <p:spPr>
          <a:xfrm>
            <a:off x="7068122" y="2606922"/>
            <a:ext cx="630936" cy="173736"/>
          </a:xfrm>
          <a:prstGeom prst="rect">
            <a:avLst/>
          </a:prstGeom>
          <a:noFill/>
          <a:ln/>
        </p:spPr>
        <p:txBody>
          <a:bodyPr vert="horz" wrap="none" lIns="38100" tIns="0" rIns="3810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8B5C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转发/记录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7849172" y="2254497"/>
            <a:ext cx="609600" cy="609600"/>
          </a:xfrm>
          <a:prstGeom prst="roundRect">
            <a:avLst>
              <a:gd name="adj" fmla="val 100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7"/>
          <p:cNvSpPr/>
          <p:nvPr/>
        </p:nvSpPr>
        <p:spPr>
          <a:xfrm>
            <a:off x="7849172" y="2254497"/>
            <a:ext cx="640080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🖥️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7832598" y="2948845"/>
            <a:ext cx="69494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目标服务器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3381699" y="3291745"/>
            <a:ext cx="5124450" cy="438150"/>
          </a:xfrm>
          <a:prstGeom prst="roundRect">
            <a:avLst>
              <a:gd name="adj" fmla="val 869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3381699" y="3291745"/>
            <a:ext cx="5138928" cy="438912"/>
          </a:xfrm>
          <a:prstGeom prst="rect">
            <a:avLst/>
          </a:prstGeom>
          <a:noFill/>
          <a:ln/>
        </p:spPr>
        <p:txBody>
          <a:bodyPr vert="horz" wrap="square" lIns="114300" tIns="114300" rIns="114300" bIns="11430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配置读写通过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 REST API，实时流量/日志通过 WebSocket 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推送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11353800" y="114300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3"/>
          <p:cNvSpPr/>
          <p:nvPr/>
        </p:nvSpPr>
        <p:spPr>
          <a:xfrm>
            <a:off x="9195926" y="5528929"/>
            <a:ext cx="251460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00D4FF">
                <a:alpha val="30000"/>
              </a:srgbClr>
            </a:solidFill>
          </a:ln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8" descr="image.png"/>
          <p:cNvPicPr>
            <a:picLocks noChangeAspect="1"/>
          </p:cNvPicPr>
          <p:nvPr/>
        </p:nvPicPr>
        <p:blipFill>
          <a:blip r:embed="rId6"/>
          <a:srcRect b="1252"/>
          <a:stretch/>
        </p:blipFill>
        <p:spPr>
          <a:xfrm>
            <a:off x="9205451" y="5538454"/>
            <a:ext cx="2495550" cy="93345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357851" y="5690854"/>
            <a:ext cx="320040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🖥️</a:t>
            </a:r>
            <a:endParaRPr lang="en-US" sz="1800" dirty="0"/>
          </a:p>
        </p:txBody>
      </p:sp>
      <p:sp>
        <p:nvSpPr>
          <p:cNvPr id="36" name="Text 25"/>
          <p:cNvSpPr/>
          <p:nvPr/>
        </p:nvSpPr>
        <p:spPr>
          <a:xfrm>
            <a:off x="9719801" y="5709904"/>
            <a:ext cx="896112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前端控制台</a:t>
            </a:r>
            <a:endParaRPr lang="en-US" sz="1350" dirty="0"/>
          </a:p>
        </p:txBody>
      </p:sp>
      <p:sp>
        <p:nvSpPr>
          <p:cNvPr id="37" name="Text 26"/>
          <p:cNvSpPr/>
          <p:nvPr/>
        </p:nvSpPr>
        <p:spPr>
          <a:xfrm>
            <a:off x="9357851" y="6071854"/>
            <a:ext cx="476250" cy="247650"/>
          </a:xfrm>
          <a:prstGeom prst="roundRect">
            <a:avLst>
              <a:gd name="adj" fmla="val 15385"/>
            </a:avLst>
          </a:prstGeom>
          <a:solidFill>
            <a:srgbClr val="00D4FF">
              <a:alpha val="20000"/>
            </a:srgbClr>
          </a:solidFill>
          <a:ln w="9525">
            <a:solidFill>
              <a:srgbClr val="00D4FF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7"/>
          <p:cNvSpPr/>
          <p:nvPr/>
        </p:nvSpPr>
        <p:spPr>
          <a:xfrm>
            <a:off x="9357851" y="6071854"/>
            <a:ext cx="493776" cy="256032"/>
          </a:xfrm>
          <a:prstGeom prst="rect">
            <a:avLst/>
          </a:prstGeom>
          <a:noFill/>
          <a:ln/>
        </p:spPr>
        <p:txBody>
          <a:bodyPr vert="horz" wrap="square" lIns="76200" tIns="38100" rIns="762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Vue 3</a:t>
            </a:r>
            <a:endParaRPr 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 28"/>
          <p:cNvSpPr/>
          <p:nvPr/>
        </p:nvSpPr>
        <p:spPr>
          <a:xfrm>
            <a:off x="9910301" y="6071854"/>
            <a:ext cx="62865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29"/>
          <p:cNvSpPr/>
          <p:nvPr/>
        </p:nvSpPr>
        <p:spPr>
          <a:xfrm>
            <a:off x="9910301" y="6071854"/>
            <a:ext cx="640080" cy="256032"/>
          </a:xfrm>
          <a:prstGeom prst="rect">
            <a:avLst/>
          </a:prstGeom>
          <a:noFill/>
          <a:ln/>
        </p:spPr>
        <p:txBody>
          <a:bodyPr vert="horz" wrap="square" lIns="76200" tIns="38100" rIns="762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状态监控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0615151" y="6071854"/>
            <a:ext cx="62865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1"/>
          <p:cNvSpPr/>
          <p:nvPr/>
        </p:nvSpPr>
        <p:spPr>
          <a:xfrm>
            <a:off x="10615151" y="6071854"/>
            <a:ext cx="640080" cy="256032"/>
          </a:xfrm>
          <a:prstGeom prst="rect">
            <a:avLst/>
          </a:prstGeom>
          <a:noFill/>
          <a:ln/>
        </p:spPr>
        <p:txBody>
          <a:bodyPr vert="horz" wrap="square" lIns="76200" tIns="38100" rIns="76200" bIns="3810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日志查看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3067050" y="2574131"/>
            <a:ext cx="0" cy="5245894"/>
          </a:xfrm>
          <a:prstGeom prst="line">
            <a:avLst/>
          </a:prstGeom>
          <a:noFill/>
          <a:ln w="19050">
            <a:solidFill>
              <a:srgbClr val="FFFFFF">
                <a:alpha val="10000"/>
              </a:srgbClr>
            </a:solidFill>
            <a:prstDash val="dashDot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35"/>
          <p:cNvSpPr/>
          <p:nvPr/>
        </p:nvSpPr>
        <p:spPr>
          <a:xfrm>
            <a:off x="446532" y="1143000"/>
            <a:ext cx="2514600" cy="1100138"/>
          </a:xfrm>
          <a:prstGeom prst="roundRect">
            <a:avLst>
              <a:gd name="adj" fmla="val 6926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36"/>
          <p:cNvSpPr/>
          <p:nvPr/>
        </p:nvSpPr>
        <p:spPr>
          <a:xfrm>
            <a:off x="446532" y="1147763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37"/>
          <p:cNvSpPr/>
          <p:nvPr/>
        </p:nvSpPr>
        <p:spPr>
          <a:xfrm>
            <a:off x="2961132" y="1143000"/>
            <a:ext cx="0" cy="1100138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38"/>
          <p:cNvSpPr/>
          <p:nvPr/>
        </p:nvSpPr>
        <p:spPr>
          <a:xfrm>
            <a:off x="446532" y="2238375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39"/>
          <p:cNvSpPr/>
          <p:nvPr/>
        </p:nvSpPr>
        <p:spPr>
          <a:xfrm>
            <a:off x="446532" y="1143000"/>
            <a:ext cx="0" cy="1100138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0"/>
          <p:cNvSpPr/>
          <p:nvPr/>
        </p:nvSpPr>
        <p:spPr>
          <a:xfrm>
            <a:off x="637032" y="1304925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代理接入层</a:t>
            </a:r>
            <a:endParaRPr lang="en-US" sz="1350" dirty="0"/>
          </a:p>
        </p:txBody>
      </p:sp>
      <p:sp>
        <p:nvSpPr>
          <p:cNvPr id="52" name="Text 41"/>
          <p:cNvSpPr/>
          <p:nvPr/>
        </p:nvSpPr>
        <p:spPr>
          <a:xfrm>
            <a:off x="637032" y="1645444"/>
            <a:ext cx="217627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06"/>
              </a:lnSpc>
            </a:pPr>
            <a:r>
              <a:rPr lang="en-US" sz="1050" dirty="0">
                <a:solidFill>
                  <a:schemeClr val="bg1"/>
                </a:solidFill>
                <a:latin typeface="+mn-ea"/>
              </a:rPr>
              <a:t>监听HTTP/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HTTPS端口，区分并分发普通请求与CONNECT隧道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53" name="Text 42"/>
          <p:cNvSpPr/>
          <p:nvPr/>
        </p:nvSpPr>
        <p:spPr>
          <a:xfrm>
            <a:off x="446532" y="2452688"/>
            <a:ext cx="2514600" cy="1316831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43"/>
          <p:cNvSpPr/>
          <p:nvPr/>
        </p:nvSpPr>
        <p:spPr>
          <a:xfrm>
            <a:off x="446532" y="2457450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44"/>
          <p:cNvSpPr/>
          <p:nvPr/>
        </p:nvSpPr>
        <p:spPr>
          <a:xfrm>
            <a:off x="2961132" y="2452688"/>
            <a:ext cx="0" cy="1316831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45"/>
          <p:cNvSpPr/>
          <p:nvPr/>
        </p:nvSpPr>
        <p:spPr>
          <a:xfrm>
            <a:off x="446532" y="3764756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46"/>
          <p:cNvSpPr/>
          <p:nvPr/>
        </p:nvSpPr>
        <p:spPr>
          <a:xfrm>
            <a:off x="446532" y="2452688"/>
            <a:ext cx="0" cy="131683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47"/>
          <p:cNvSpPr/>
          <p:nvPr/>
        </p:nvSpPr>
        <p:spPr>
          <a:xfrm>
            <a:off x="637032" y="2614613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代理核心层</a:t>
            </a:r>
            <a:endParaRPr lang="en-US" sz="1350" dirty="0"/>
          </a:p>
        </p:txBody>
      </p:sp>
      <p:sp>
        <p:nvSpPr>
          <p:cNvPr id="59" name="Text 48"/>
          <p:cNvSpPr/>
          <p:nvPr/>
        </p:nvSpPr>
        <p:spPr>
          <a:xfrm>
            <a:off x="637032" y="2958703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06"/>
              </a:lnSpc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维护请求上下文，执行责任链（访问控制、路由、统计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），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管理连接生命周期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60" name="Text 49"/>
          <p:cNvSpPr/>
          <p:nvPr/>
        </p:nvSpPr>
        <p:spPr>
          <a:xfrm>
            <a:off x="446532" y="3979069"/>
            <a:ext cx="2514600" cy="1100138"/>
          </a:xfrm>
          <a:prstGeom prst="roundRect">
            <a:avLst>
              <a:gd name="adj" fmla="val 6926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0"/>
          <p:cNvSpPr/>
          <p:nvPr/>
        </p:nvSpPr>
        <p:spPr>
          <a:xfrm>
            <a:off x="446532" y="3983831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51"/>
          <p:cNvSpPr/>
          <p:nvPr/>
        </p:nvSpPr>
        <p:spPr>
          <a:xfrm>
            <a:off x="2961132" y="3979069"/>
            <a:ext cx="0" cy="1100138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52"/>
          <p:cNvSpPr/>
          <p:nvPr/>
        </p:nvSpPr>
        <p:spPr>
          <a:xfrm>
            <a:off x="446532" y="5074444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53"/>
          <p:cNvSpPr/>
          <p:nvPr/>
        </p:nvSpPr>
        <p:spPr>
          <a:xfrm>
            <a:off x="446532" y="3979069"/>
            <a:ext cx="0" cy="1100138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54"/>
          <p:cNvSpPr/>
          <p:nvPr/>
        </p:nvSpPr>
        <p:spPr>
          <a:xfrm>
            <a:off x="637032" y="4140994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控制服务层</a:t>
            </a:r>
            <a:endParaRPr lang="en-US" sz="1350" dirty="0"/>
          </a:p>
        </p:txBody>
      </p:sp>
      <p:sp>
        <p:nvSpPr>
          <p:cNvPr id="66" name="Text 55"/>
          <p:cNvSpPr/>
          <p:nvPr/>
        </p:nvSpPr>
        <p:spPr>
          <a:xfrm>
            <a:off x="637032" y="4481513"/>
            <a:ext cx="217627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提供配置REST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API、WebSocket实时推送、静态资源及抓包下载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67" name="Text 56"/>
          <p:cNvSpPr/>
          <p:nvPr/>
        </p:nvSpPr>
        <p:spPr>
          <a:xfrm>
            <a:off x="446532" y="5288756"/>
            <a:ext cx="2514600" cy="1100138"/>
          </a:xfrm>
          <a:prstGeom prst="roundRect">
            <a:avLst>
              <a:gd name="adj" fmla="val 6926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Shape 57"/>
          <p:cNvSpPr/>
          <p:nvPr/>
        </p:nvSpPr>
        <p:spPr>
          <a:xfrm>
            <a:off x="446532" y="5293519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58"/>
          <p:cNvSpPr/>
          <p:nvPr/>
        </p:nvSpPr>
        <p:spPr>
          <a:xfrm>
            <a:off x="2961132" y="5288756"/>
            <a:ext cx="0" cy="1100138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59"/>
          <p:cNvSpPr/>
          <p:nvPr/>
        </p:nvSpPr>
        <p:spPr>
          <a:xfrm>
            <a:off x="446532" y="6384131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hape 60"/>
          <p:cNvSpPr/>
          <p:nvPr/>
        </p:nvSpPr>
        <p:spPr>
          <a:xfrm>
            <a:off x="446532" y="5288756"/>
            <a:ext cx="0" cy="1100138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61"/>
          <p:cNvSpPr/>
          <p:nvPr/>
        </p:nvSpPr>
        <p:spPr>
          <a:xfrm>
            <a:off x="637032" y="5450681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对象存储层</a:t>
            </a:r>
            <a:endParaRPr lang="en-US" sz="1350" dirty="0"/>
          </a:p>
        </p:txBody>
      </p:sp>
      <p:sp>
        <p:nvSpPr>
          <p:cNvPr id="73" name="Text 62"/>
          <p:cNvSpPr/>
          <p:nvPr/>
        </p:nvSpPr>
        <p:spPr>
          <a:xfrm>
            <a:off x="637032" y="5791200"/>
            <a:ext cx="2176272" cy="438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06"/>
              </a:lnSpc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基于MinIO，流式存储MITM捕获的大体积请求体与响应体</a:t>
            </a:r>
            <a:r>
              <a:rPr lang="en-US" sz="1050" dirty="0">
                <a:solidFill>
                  <a:schemeClr val="bg1"/>
                </a:solidFill>
                <a:latin typeface="+mn-ea"/>
              </a:rPr>
              <a:t>。</a:t>
            </a:r>
          </a:p>
        </p:txBody>
      </p:sp>
      <p:sp>
        <p:nvSpPr>
          <p:cNvPr id="76" name="Shape 65"/>
          <p:cNvSpPr/>
          <p:nvPr/>
        </p:nvSpPr>
        <p:spPr>
          <a:xfrm>
            <a:off x="9024476" y="1235535"/>
            <a:ext cx="0" cy="5245894"/>
          </a:xfrm>
          <a:prstGeom prst="line">
            <a:avLst/>
          </a:prstGeom>
          <a:noFill/>
          <a:ln w="19050">
            <a:solidFill>
              <a:srgbClr val="FFFFFF">
                <a:alpha val="10000"/>
              </a:srgbClr>
            </a:solidFill>
            <a:prstDash val="dashDot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66"/>
          <p:cNvSpPr/>
          <p:nvPr/>
        </p:nvSpPr>
        <p:spPr>
          <a:xfrm>
            <a:off x="9195926" y="1235535"/>
            <a:ext cx="2514600" cy="1316831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Shape 67"/>
          <p:cNvSpPr/>
          <p:nvPr/>
        </p:nvSpPr>
        <p:spPr>
          <a:xfrm>
            <a:off x="9195926" y="1240298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hape 68"/>
          <p:cNvSpPr/>
          <p:nvPr/>
        </p:nvSpPr>
        <p:spPr>
          <a:xfrm>
            <a:off x="11710526" y="1235535"/>
            <a:ext cx="0" cy="1316831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Shape 69"/>
          <p:cNvSpPr/>
          <p:nvPr/>
        </p:nvSpPr>
        <p:spPr>
          <a:xfrm>
            <a:off x="9195926" y="2547604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hape 70"/>
          <p:cNvSpPr/>
          <p:nvPr/>
        </p:nvSpPr>
        <p:spPr>
          <a:xfrm>
            <a:off x="9195926" y="1235535"/>
            <a:ext cx="0" cy="1316831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Text 71"/>
          <p:cNvSpPr/>
          <p:nvPr/>
        </p:nvSpPr>
        <p:spPr>
          <a:xfrm>
            <a:off x="9357851" y="1397460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350" dirty="0"/>
          </a:p>
        </p:txBody>
      </p:sp>
      <p:sp>
        <p:nvSpPr>
          <p:cNvPr id="83" name="Text 72"/>
          <p:cNvSpPr/>
          <p:nvPr/>
        </p:nvSpPr>
        <p:spPr>
          <a:xfrm>
            <a:off x="9357851" y="1741551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 err="1">
                <a:solidFill>
                  <a:schemeClr val="bg1"/>
                </a:solidFill>
                <a:latin typeface="+mn-ea"/>
              </a:rPr>
              <a:t>拆分处理逻辑（路由、统计、抓包）为独立节点，按序执行，降低耦合度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4" name="Text 73"/>
          <p:cNvSpPr/>
          <p:nvPr/>
        </p:nvSpPr>
        <p:spPr>
          <a:xfrm>
            <a:off x="9195926" y="2666666"/>
            <a:ext cx="2514600" cy="1316831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Shape 74"/>
          <p:cNvSpPr/>
          <p:nvPr/>
        </p:nvSpPr>
        <p:spPr>
          <a:xfrm>
            <a:off x="9195926" y="2671429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Shape 75"/>
          <p:cNvSpPr/>
          <p:nvPr/>
        </p:nvSpPr>
        <p:spPr>
          <a:xfrm>
            <a:off x="11710526" y="2666666"/>
            <a:ext cx="0" cy="131683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hape 76"/>
          <p:cNvSpPr/>
          <p:nvPr/>
        </p:nvSpPr>
        <p:spPr>
          <a:xfrm>
            <a:off x="9195926" y="3978735"/>
            <a:ext cx="2514600" cy="0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Shape 77"/>
          <p:cNvSpPr/>
          <p:nvPr/>
        </p:nvSpPr>
        <p:spPr>
          <a:xfrm>
            <a:off x="9195926" y="2666666"/>
            <a:ext cx="0" cy="1316831"/>
          </a:xfrm>
          <a:prstGeom prst="line">
            <a:avLst/>
          </a:prstGeom>
          <a:noFill/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Text 78"/>
          <p:cNvSpPr/>
          <p:nvPr/>
        </p:nvSpPr>
        <p:spPr>
          <a:xfrm>
            <a:off x="9357851" y="2828591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观察者模式</a:t>
            </a:r>
            <a:endParaRPr lang="en-US" sz="1350" dirty="0"/>
          </a:p>
        </p:txBody>
      </p:sp>
      <p:sp>
        <p:nvSpPr>
          <p:cNvPr id="90" name="Text 79"/>
          <p:cNvSpPr/>
          <p:nvPr/>
        </p:nvSpPr>
        <p:spPr>
          <a:xfrm>
            <a:off x="9357851" y="3172682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+mn-ea"/>
              </a:rPr>
              <a:t>WebSocket </a:t>
            </a:r>
            <a:r>
              <a:rPr lang="en-US" sz="1050" dirty="0" err="1">
                <a:solidFill>
                  <a:schemeClr val="bg1"/>
                </a:solidFill>
                <a:latin typeface="+mn-ea"/>
              </a:rPr>
              <a:t>Hub根据前端订阅主题，定向推送流量、连接、日志变更信息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Text 80"/>
          <p:cNvSpPr/>
          <p:nvPr/>
        </p:nvSpPr>
        <p:spPr>
          <a:xfrm>
            <a:off x="9195926" y="4097799"/>
            <a:ext cx="2514600" cy="1150476"/>
          </a:xfrm>
          <a:prstGeom prst="roundRect">
            <a:avLst>
              <a:gd name="adj" fmla="val 5787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Shape 81"/>
          <p:cNvSpPr/>
          <p:nvPr/>
        </p:nvSpPr>
        <p:spPr>
          <a:xfrm>
            <a:off x="9195926" y="4102560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hape 82"/>
          <p:cNvSpPr/>
          <p:nvPr/>
        </p:nvSpPr>
        <p:spPr>
          <a:xfrm>
            <a:off x="11710526" y="4097798"/>
            <a:ext cx="0" cy="1316831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hape 83"/>
          <p:cNvSpPr/>
          <p:nvPr/>
        </p:nvSpPr>
        <p:spPr>
          <a:xfrm>
            <a:off x="9195926" y="5409866"/>
            <a:ext cx="2514600" cy="0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5" name="Shape 84"/>
          <p:cNvSpPr/>
          <p:nvPr/>
        </p:nvSpPr>
        <p:spPr>
          <a:xfrm>
            <a:off x="9195926" y="4097798"/>
            <a:ext cx="0" cy="1316831"/>
          </a:xfrm>
          <a:prstGeom prst="line">
            <a:avLst/>
          </a:prstGeom>
          <a:noFill/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6" name="Text 85"/>
          <p:cNvSpPr/>
          <p:nvPr/>
        </p:nvSpPr>
        <p:spPr>
          <a:xfrm>
            <a:off x="9357851" y="4259723"/>
            <a:ext cx="223113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适配器模式</a:t>
            </a:r>
            <a:endParaRPr lang="en-US" sz="1350" dirty="0"/>
          </a:p>
        </p:txBody>
      </p:sp>
      <p:sp>
        <p:nvSpPr>
          <p:cNvPr id="97" name="Text 86"/>
          <p:cNvSpPr/>
          <p:nvPr/>
        </p:nvSpPr>
        <p:spPr>
          <a:xfrm>
            <a:off x="9357851" y="4603813"/>
            <a:ext cx="2176272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indent="0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  <a:latin typeface="+mn-ea"/>
              </a:rPr>
              <a:t>使用函数适配器，自实现接口。增强模块灵活性，易扩展性</a:t>
            </a:r>
            <a:endParaRPr lang="en-US" sz="10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8" name="Text 87"/>
          <p:cNvSpPr/>
          <p:nvPr/>
        </p:nvSpPr>
        <p:spPr>
          <a:xfrm>
            <a:off x="2942081" y="758381"/>
            <a:ext cx="5742432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9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协作机制与数据流转</a:t>
            </a:r>
            <a:endParaRPr lang="en-US" sz="1800" dirty="0"/>
          </a:p>
        </p:txBody>
      </p:sp>
      <p:sp>
        <p:nvSpPr>
          <p:cNvPr id="99" name="Text 88"/>
          <p:cNvSpPr/>
          <p:nvPr/>
        </p:nvSpPr>
        <p:spPr>
          <a:xfrm>
            <a:off x="3212973" y="4463938"/>
            <a:ext cx="5600700" cy="1914525"/>
          </a:xfrm>
          <a:prstGeom prst="roundRect">
            <a:avLst>
              <a:gd name="adj" fmla="val 5970"/>
            </a:avLst>
          </a:prstGeom>
          <a:solidFill>
            <a:srgbClr val="0F172A">
              <a:alpha val="75000"/>
            </a:srgbClr>
          </a:solidFill>
          <a:ln/>
          <a:effectLst>
            <a:outerShdw blurRad="304800" dist="76200" dir="54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Shape 89"/>
          <p:cNvSpPr/>
          <p:nvPr/>
        </p:nvSpPr>
        <p:spPr>
          <a:xfrm>
            <a:off x="3212973" y="4482988"/>
            <a:ext cx="560070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hape 90"/>
          <p:cNvSpPr/>
          <p:nvPr/>
        </p:nvSpPr>
        <p:spPr>
          <a:xfrm>
            <a:off x="8813673" y="4463938"/>
            <a:ext cx="0" cy="1914525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hape 92"/>
          <p:cNvSpPr/>
          <p:nvPr/>
        </p:nvSpPr>
        <p:spPr>
          <a:xfrm>
            <a:off x="3212973" y="4463938"/>
            <a:ext cx="0" cy="1914525"/>
          </a:xfrm>
          <a:prstGeom prst="line">
            <a:avLst/>
          </a:prstGeom>
          <a:noFill/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Text 93"/>
          <p:cNvSpPr/>
          <p:nvPr/>
        </p:nvSpPr>
        <p:spPr>
          <a:xfrm>
            <a:off x="3374898" y="4730638"/>
            <a:ext cx="76200" cy="76200"/>
          </a:xfrm>
          <a:prstGeom prst="roundRect">
            <a:avLst>
              <a:gd name="adj" fmla="val 100000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5" name="Text 94"/>
          <p:cNvSpPr/>
          <p:nvPr/>
        </p:nvSpPr>
        <p:spPr>
          <a:xfrm>
            <a:off x="3374898" y="4730638"/>
            <a:ext cx="100584" cy="82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</p:txBody>
      </p:sp>
      <p:sp>
        <p:nvSpPr>
          <p:cNvPr id="106" name="Text 95"/>
          <p:cNvSpPr/>
          <p:nvPr/>
        </p:nvSpPr>
        <p:spPr>
          <a:xfrm>
            <a:off x="3451098" y="4654438"/>
            <a:ext cx="5321808" cy="22860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关键</a:t>
            </a:r>
            <a:r>
              <a:rPr lang="zh-CN" altLang="en-US" sz="160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功能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Text 96"/>
          <p:cNvSpPr/>
          <p:nvPr/>
        </p:nvSpPr>
        <p:spPr>
          <a:xfrm>
            <a:off x="3286125" y="5119141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97"/>
          <p:cNvSpPr/>
          <p:nvPr/>
        </p:nvSpPr>
        <p:spPr>
          <a:xfrm>
            <a:off x="3324171" y="5204866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fontScale="92500" lnSpcReduction="20000"/>
          </a:bodyPr>
          <a:lstStyle/>
          <a:p>
            <a:r>
              <a:rPr lang="zh-CN" altLang="en-US" sz="16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上网行为管理</a:t>
            </a:r>
            <a:endParaRPr lang="en-US" altLang="zh-CN" sz="1600" b="1" dirty="0">
              <a:solidFill>
                <a:srgbClr val="00D4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050" b="1" dirty="0">
              <a:solidFill>
                <a:srgbClr val="00D4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 98"/>
          <p:cNvSpPr/>
          <p:nvPr/>
        </p:nvSpPr>
        <p:spPr>
          <a:xfrm>
            <a:off x="3371850" y="5433466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用户管理，安全网关</a:t>
            </a:r>
            <a:endParaRPr 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Text 99"/>
          <p:cNvSpPr/>
          <p:nvPr/>
        </p:nvSpPr>
        <p:spPr>
          <a:xfrm>
            <a:off x="5930639" y="5114727"/>
            <a:ext cx="258127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1" name="Text 100"/>
          <p:cNvSpPr/>
          <p:nvPr/>
        </p:nvSpPr>
        <p:spPr>
          <a:xfrm>
            <a:off x="6016364" y="5200452"/>
            <a:ext cx="2478024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r>
              <a:rPr lang="zh-CN" altLang="en-US" sz="140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网络流量分析</a:t>
            </a:r>
            <a:endParaRPr lang="en-US" altLang="zh-CN" sz="1400" b="1" dirty="0">
              <a:solidFill>
                <a:srgbClr val="00D4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sz="1050" b="1" dirty="0">
              <a:solidFill>
                <a:srgbClr val="00D4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Text 101"/>
          <p:cNvSpPr/>
          <p:nvPr/>
        </p:nvSpPr>
        <p:spPr>
          <a:xfrm>
            <a:off x="6016364" y="5481875"/>
            <a:ext cx="2478024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流量监控，流量分析，规则路由</a:t>
            </a:r>
            <a:endParaRPr 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0" name="图片 119">
            <a:extLst>
              <a:ext uri="{FF2B5EF4-FFF2-40B4-BE49-F238E27FC236}">
                <a16:creationId xmlns:a16="http://schemas.microsoft.com/office/drawing/2014/main" id="{3FDB7476-56C1-51B0-F2F9-1F3BBD54939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94603" y="28685"/>
            <a:ext cx="1321255" cy="1226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884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90500"/>
            <a:ext cx="11695176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WebSocket实时通信技术</a:t>
            </a:r>
            <a:endParaRPr 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771525"/>
            <a:ext cx="762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4597" y="1176338"/>
            <a:ext cx="5852220" cy="2076450"/>
          </a:xfrm>
          <a:prstGeom prst="roundRect">
            <a:avLst>
              <a:gd name="adj" fmla="val 5505"/>
            </a:avLst>
          </a:prstGeom>
          <a:solidFill>
            <a:srgbClr val="0D1525">
              <a:alpha val="6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2892" y="1185863"/>
            <a:ext cx="914400" cy="914400"/>
          </a:xfrm>
          <a:prstGeom prst="rect">
            <a:avLst/>
          </a:prstGeom>
        </p:spPr>
      </p:pic>
      <p:pic>
        <p:nvPicPr>
          <p:cNvPr id="8" name="Image 3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42722" y="1452563"/>
            <a:ext cx="238125" cy="1905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80847" y="1414463"/>
            <a:ext cx="526694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实时数据推送架构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442722" y="1886843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444657" y="1795463"/>
            <a:ext cx="4631085" cy="502920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 err="1">
                <a:solidFill>
                  <a:srgbClr val="E0F7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核心机制：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后端采用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观察者模式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  <a:cs typeface="MiSans" pitchFamily="34" charset="-120"/>
              </a:rPr>
              <a:t>，通过WebSocket Hub管理前端连接与主题订阅。</a:t>
            </a:r>
            <a:endParaRPr 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42722" y="2496443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444657" y="2405063"/>
            <a:ext cx="4631085" cy="502920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数据分流：</a:t>
            </a: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根据订阅主题（如流量、连接、日志、抓包记录），将实时运行数据精准推送至不同前端页面。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80785" y="1274588"/>
            <a:ext cx="5375970" cy="1978199"/>
          </a:xfrm>
          <a:prstGeom prst="roundRect">
            <a:avLst>
              <a:gd name="adj" fmla="val 6250"/>
            </a:avLst>
          </a:prstGeom>
          <a:solidFill>
            <a:srgbClr val="0D1525">
              <a:alpha val="6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5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000" y="3795164"/>
            <a:ext cx="190500" cy="1905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71500" y="3757065"/>
            <a:ext cx="531266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关键技术实现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381000" y="422944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382935" y="4138064"/>
            <a:ext cx="4692807" cy="256032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连接管理：</a:t>
            </a:r>
            <a:r>
              <a:rPr lang="en-US" sz="120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控制服务处理连接认证与协议升级，建立双向通信通道。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81000" y="459139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3"/>
          <p:cNvSpPr/>
          <p:nvPr/>
        </p:nvSpPr>
        <p:spPr>
          <a:xfrm>
            <a:off x="382935" y="4500014"/>
            <a:ext cx="4692807" cy="839297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批量推送优化</a:t>
            </a:r>
            <a:r>
              <a:rPr lang="en-US" sz="12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20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使用批次打包发送和计时器定时发送，显著减少发送次数减少前端压力。同时保证数据全部送达前端</a:t>
            </a:r>
            <a:endParaRPr lang="en-US" sz="1200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57200" y="5843588"/>
            <a:ext cx="28575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690420" y="1195388"/>
            <a:ext cx="5120580" cy="5238750"/>
          </a:xfrm>
          <a:prstGeom prst="roundRect">
            <a:avLst>
              <a:gd name="adj" fmla="val 2976"/>
            </a:avLst>
          </a:prstGeom>
          <a:noFill/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19"/>
          <p:cNvSpPr/>
          <p:nvPr/>
        </p:nvSpPr>
        <p:spPr>
          <a:xfrm>
            <a:off x="11887200" y="6205538"/>
            <a:ext cx="0" cy="3048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0"/>
          <p:cNvSpPr/>
          <p:nvPr/>
        </p:nvSpPr>
        <p:spPr>
          <a:xfrm>
            <a:off x="11582400" y="6500812"/>
            <a:ext cx="3048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3909A8F-C736-17F9-952A-CB02197D0738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08227" y="25409"/>
            <a:ext cx="1493273" cy="1385757"/>
          </a:xfrm>
          <a:prstGeom prst="rect">
            <a:avLst/>
          </a:prstGeom>
          <a:noFill/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C16E0AC-ED08-8FC8-2B5D-55D2D954991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66241" y="1649291"/>
            <a:ext cx="6541851" cy="45562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9992" y="0"/>
            <a:ext cx="12415051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代理核心与转发流程</a:t>
            </a:r>
            <a:endParaRPr lang="en-US" sz="2700" dirty="0"/>
          </a:p>
        </p:txBody>
      </p:sp>
      <p:pic>
        <p:nvPicPr>
          <p:cNvPr id="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41330" y="5255419"/>
            <a:ext cx="2941290" cy="1390650"/>
          </a:xfrm>
          <a:prstGeom prst="roundRect">
            <a:avLst>
              <a:gd name="adj" fmla="val 5479"/>
            </a:avLst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4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13289" y="-737605"/>
            <a:ext cx="219075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46226" y="-357811"/>
            <a:ext cx="2468880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313289" y="-3470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6726184" y="-14911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请求处理链：控制与路由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6313289" y="-803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6726184" y="2517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响应处理链：统计与记录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313289" y="18632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6726184" y="5184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CONNECT处理链：策略决策</a:t>
            </a:r>
            <a:endParaRPr lang="en-US" sz="105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213FC9C-D43E-9283-70F8-7F24B452527E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1EA0E70E-0553-B61A-37DA-E425DFCAD5D7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一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http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非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MITM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模式</a:t>
            </a:r>
            <a:endParaRPr lang="en-US" sz="1600" dirty="0">
              <a:latin typeface="+mn-ea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EE22E6AF-111D-FECE-6ECB-CFD41D5A66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2664" y="1205813"/>
            <a:ext cx="5922607" cy="1567130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81D8476B-46BA-5131-4555-58224220B311}"/>
              </a:ext>
            </a:extLst>
          </p:cNvPr>
          <p:cNvSpPr/>
          <p:nvPr/>
        </p:nvSpPr>
        <p:spPr>
          <a:xfrm>
            <a:off x="-39967" y="1297571"/>
            <a:ext cx="5922607" cy="55604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7" name="图形 46">
            <a:extLst>
              <a:ext uri="{FF2B5EF4-FFF2-40B4-BE49-F238E27FC236}">
                <a16:creationId xmlns:a16="http://schemas.microsoft.com/office/drawing/2014/main" id="{335325D9-3D04-67E0-63EC-17CF872A1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7174" y="1297571"/>
            <a:ext cx="5432973" cy="552386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1C8E28BE-DFFD-1FB0-7889-A2BACC989A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7981" y="2974780"/>
            <a:ext cx="6131736" cy="13226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70E55-8A0D-846F-2E3B-F9BC6734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
            <a:extLst>
              <a:ext uri="{FF2B5EF4-FFF2-40B4-BE49-F238E27FC236}">
                <a16:creationId xmlns:a16="http://schemas.microsoft.com/office/drawing/2014/main" id="{3CC9C30B-F3BD-F7BD-3C4E-5AC7F46B6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29992" y="0"/>
            <a:ext cx="12415051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52443A8-E19B-76EB-AA7C-F40B093902F5}"/>
              </a:ext>
            </a:extLst>
          </p:cNvPr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代理核心与转发流程</a:t>
            </a:r>
            <a:endParaRPr lang="en-US" sz="2700" dirty="0"/>
          </a:p>
        </p:txBody>
      </p:sp>
      <p:pic>
        <p:nvPicPr>
          <p:cNvPr id="4" name="Image 1" descr="image.png">
            <a:extLst>
              <a:ext uri="{FF2B5EF4-FFF2-40B4-BE49-F238E27FC236}">
                <a16:creationId xmlns:a16="http://schemas.microsoft.com/office/drawing/2014/main" id="{DE01B0D8-0809-2BBF-AFC5-569A785711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pic>
        <p:nvPicPr>
          <p:cNvPr id="19" name="Image 4" descr="image.png">
            <a:extLst>
              <a:ext uri="{FF2B5EF4-FFF2-40B4-BE49-F238E27FC236}">
                <a16:creationId xmlns:a16="http://schemas.microsoft.com/office/drawing/2014/main" id="{20654B75-56FB-11C9-7A3D-71B9913D24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13289" y="-737605"/>
            <a:ext cx="219075" cy="171450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BC2F31A9-A140-ED53-63E5-1A566C188398}"/>
              </a:ext>
            </a:extLst>
          </p:cNvPr>
          <p:cNvSpPr/>
          <p:nvPr/>
        </p:nvSpPr>
        <p:spPr>
          <a:xfrm>
            <a:off x="6946226" y="-357811"/>
            <a:ext cx="2468880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35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704C86D2-E46B-3D30-E406-963D64AA4C21}"/>
              </a:ext>
            </a:extLst>
          </p:cNvPr>
          <p:cNvSpPr/>
          <p:nvPr/>
        </p:nvSpPr>
        <p:spPr>
          <a:xfrm>
            <a:off x="6313289" y="-3470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40AD60EB-40ED-9923-2C4F-09A92A8DEB87}"/>
              </a:ext>
            </a:extLst>
          </p:cNvPr>
          <p:cNvSpPr/>
          <p:nvPr/>
        </p:nvSpPr>
        <p:spPr>
          <a:xfrm>
            <a:off x="6726184" y="-14911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请求处理链：控制与路由</a:t>
            </a:r>
            <a:endParaRPr lang="en-US" sz="10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E53934E-D35D-FC3D-A492-303CBFEBAE50}"/>
              </a:ext>
            </a:extLst>
          </p:cNvPr>
          <p:cNvSpPr/>
          <p:nvPr/>
        </p:nvSpPr>
        <p:spPr>
          <a:xfrm>
            <a:off x="6313289" y="-8038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F52D02F-6639-32D4-ADC7-76EBDD0F6779}"/>
              </a:ext>
            </a:extLst>
          </p:cNvPr>
          <p:cNvSpPr/>
          <p:nvPr/>
        </p:nvSpPr>
        <p:spPr>
          <a:xfrm>
            <a:off x="6726184" y="2517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响应处理链：统计与记录</a:t>
            </a:r>
            <a:endParaRPr lang="en-US" sz="105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FB1759C-1C13-2077-AB09-F5A15FFA2DF9}"/>
              </a:ext>
            </a:extLst>
          </p:cNvPr>
          <p:cNvSpPr/>
          <p:nvPr/>
        </p:nvSpPr>
        <p:spPr>
          <a:xfrm>
            <a:off x="6313289" y="186320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1DAE2EF5-0E9D-AD79-3AE8-4D97FDDB827F}"/>
              </a:ext>
            </a:extLst>
          </p:cNvPr>
          <p:cNvSpPr/>
          <p:nvPr/>
        </p:nvSpPr>
        <p:spPr>
          <a:xfrm>
            <a:off x="6726184" y="518489"/>
            <a:ext cx="2688336" cy="192024"/>
          </a:xfrm>
          <a:prstGeom prst="rect">
            <a:avLst/>
          </a:prstGeom>
          <a:noFill/>
          <a:ln/>
        </p:spPr>
        <p:txBody>
          <a:bodyPr vert="horz" wrap="none" lIns="22860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B9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CONNECT处理链：策略决策</a:t>
            </a:r>
            <a:endParaRPr lang="en-US" sz="105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BE08209-9653-3AF5-3FB9-DFBF47DD8FD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58AB2CD4-6664-16AD-ABAC-8A313F0D4E06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二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隧道透传</a:t>
            </a:r>
            <a:endParaRPr lang="en-US" sz="1600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CBF8F-F3A5-DFC2-2AEA-C8DCCEF500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9992" y="1284327"/>
            <a:ext cx="12192000" cy="2594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93D813D-CB60-B64C-A6BE-163626FF75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29991" y="3832063"/>
            <a:ext cx="8095900" cy="30103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98490AE-C3FF-2C0D-F6FB-143821AC05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5910" y="3902056"/>
            <a:ext cx="4289382" cy="294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77346-96E6-2D5C-2CA9-205CF4143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
            <a:extLst>
              <a:ext uri="{FF2B5EF4-FFF2-40B4-BE49-F238E27FC236}">
                <a16:creationId xmlns:a16="http://schemas.microsoft.com/office/drawing/2014/main" id="{EFBBBEB9-BD97-287B-9901-61E8AAF914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8287"/>
            <a:ext cx="12415051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61366B9-9733-5A5F-F70A-C16C20772917}"/>
              </a:ext>
            </a:extLst>
          </p:cNvPr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代理核心与转发流程</a:t>
            </a:r>
            <a:endParaRPr lang="en-US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1" descr="image.png">
            <a:extLst>
              <a:ext uri="{FF2B5EF4-FFF2-40B4-BE49-F238E27FC236}">
                <a16:creationId xmlns:a16="http://schemas.microsoft.com/office/drawing/2014/main" id="{AFD4A239-4600-BAB8-B218-5E87EE3C5C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CB71FFAB-6CC8-3120-E4B4-E95E90C318E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67CC705E-591E-8D7D-0E87-02477B542146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三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</a:t>
            </a:r>
            <a:r>
              <a:rPr lang="en-US" altLang="zh-CN" sz="1600" b="1" dirty="0" err="1">
                <a:solidFill>
                  <a:srgbClr val="E0F7FF"/>
                </a:solidFill>
                <a:latin typeface="+mn-ea"/>
                <a:cs typeface="MiSans" pitchFamily="34" charset="-120"/>
              </a:rPr>
              <a:t>tls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证书生成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 </a:t>
            </a:r>
            <a:endParaRPr lang="en-US" sz="16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6F450A-1CC3-158A-31BE-58B328993650}"/>
              </a:ext>
            </a:extLst>
          </p:cNvPr>
          <p:cNvSpPr/>
          <p:nvPr/>
        </p:nvSpPr>
        <p:spPr>
          <a:xfrm>
            <a:off x="-1" y="1279699"/>
            <a:ext cx="5857072" cy="42574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0C18A2-0754-E1BC-C3FC-6C401D2024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28" y="1320846"/>
            <a:ext cx="5675855" cy="4050792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9554379" y="1393998"/>
            <a:ext cx="2679192" cy="4370832"/>
          </a:xfrm>
          <a:prstGeom prst="roundRect">
            <a:avLst/>
          </a:prstGeom>
          <a:noFill/>
          <a:ln w="12700">
            <a:solidFill>
              <a:srgbClr val="8B5CF6">
                <a:alpha val="3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481227" y="1320846"/>
            <a:ext cx="2770632" cy="4370832"/>
          </a:xfrm>
          <a:prstGeom prst="roundRect">
            <a:avLst/>
          </a:prstGeom>
          <a:solidFill>
            <a:srgbClr val="04122D">
              <a:alpha val="84000"/>
            </a:srgbClr>
          </a:solidFill>
          <a:ln w="14604">
            <a:solidFill>
              <a:srgbClr val="00D5FF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714399" y="1476294"/>
            <a:ext cx="384048" cy="137160"/>
          </a:xfrm>
          <a:prstGeom prst="roundRect">
            <a:avLst/>
          </a:prstGeom>
          <a:solidFill>
            <a:srgbClr val="00D5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28115" y="1650030"/>
            <a:ext cx="1461939" cy="292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动态证书链路</a:t>
            </a:r>
            <a:endParaRPr sz="190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1355747" y="1604310"/>
            <a:ext cx="493776" cy="201168"/>
          </a:xfrm>
          <a:prstGeom prst="roundRect">
            <a:avLst/>
          </a:prstGeom>
          <a:solidFill>
            <a:srgbClr val="081F44">
              <a:alpha val="72000"/>
            </a:srgbClr>
          </a:solidFill>
          <a:ln w="10160">
            <a:solidFill>
              <a:srgbClr val="00D5FF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0" rIns="18288" bIns="0" rtlCol="0" anchor="ctr"/>
          <a:lstStyle/>
          <a:p>
            <a:pPr algn="ctr"/>
            <a:r>
              <a:rPr sz="819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X.509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28115" y="1960926"/>
            <a:ext cx="713232" cy="32004"/>
          </a:xfrm>
          <a:prstGeom prst="rect">
            <a:avLst/>
          </a:prstGeom>
          <a:solidFill>
            <a:srgbClr val="00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459635" y="1960926"/>
            <a:ext cx="384048" cy="3200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728115" y="2235246"/>
            <a:ext cx="356616" cy="246888"/>
          </a:xfrm>
          <a:prstGeom prst="roundRect">
            <a:avLst/>
          </a:prstGeom>
          <a:solidFill>
            <a:srgbClr val="00D5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>
                <a:solidFill>
                  <a:srgbClr val="041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4459" y="2258105"/>
            <a:ext cx="806311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</a:t>
            </a:r>
            <a:r>
              <a:rPr sz="126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Host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97279" y="2527853"/>
            <a:ext cx="22860" cy="228600"/>
          </a:xfrm>
          <a:prstGeom prst="rect">
            <a:avLst/>
          </a:prstGeom>
          <a:solidFill>
            <a:srgbClr val="00D5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9728115" y="2793029"/>
            <a:ext cx="356616" cy="246888"/>
          </a:xfrm>
          <a:prstGeom prst="roundRect">
            <a:avLst/>
          </a:prstGeom>
          <a:solidFill>
            <a:srgbClr val="8B5CF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85315" y="2846369"/>
            <a:ext cx="1531060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生成同名</a:t>
            </a:r>
            <a:r>
              <a:rPr sz="126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X.509 </a:t>
            </a:r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证书</a:t>
            </a:r>
            <a:endParaRPr sz="126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897279" y="3085637"/>
            <a:ext cx="22860" cy="228600"/>
          </a:xfrm>
          <a:prstGeom prst="rect">
            <a:avLst/>
          </a:prstGeom>
          <a:solidFill>
            <a:srgbClr val="00D5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728115" y="3350813"/>
            <a:ext cx="356616" cy="246888"/>
          </a:xfrm>
          <a:prstGeom prst="roundRect">
            <a:avLst/>
          </a:prstGeom>
          <a:solidFill>
            <a:srgbClr val="00D5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>
                <a:solidFill>
                  <a:srgbClr val="0412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7508" y="3380942"/>
            <a:ext cx="1412246" cy="1938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60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sz="126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签名并续接握手</a:t>
            </a:r>
            <a:endParaRPr sz="1260" b="1" dirty="0">
              <a:solidFill>
                <a:srgbClr val="E0F7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691539" y="4018326"/>
            <a:ext cx="2322576" cy="1225296"/>
          </a:xfrm>
          <a:prstGeom prst="roundRect">
            <a:avLst/>
          </a:prstGeom>
          <a:solidFill>
            <a:srgbClr val="081F44">
              <a:alpha val="70000"/>
            </a:srgbClr>
          </a:solidFill>
          <a:ln w="8890">
            <a:solidFill>
              <a:srgbClr val="27688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819555" y="4146342"/>
            <a:ext cx="2067874" cy="8772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代理拿到目标域名后，临时生成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同名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X.509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站点证书，并由内置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私钥签名。客户端信任本地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后继续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TLS </a:t>
            </a: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握手，后续流量</a:t>
            </a:r>
            <a:endParaRPr lang="en-US" sz="1070" dirty="0">
              <a:solidFill>
                <a:srgbClr val="B8D5E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70" dirty="0" err="1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在代理端透明解析、记录与转发</a:t>
            </a:r>
            <a:r>
              <a:rPr sz="1070" dirty="0">
                <a:solidFill>
                  <a:srgbClr val="B8D5E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46987" y="5371638"/>
            <a:ext cx="2011680" cy="256032"/>
          </a:xfrm>
          <a:prstGeom prst="roundRect">
            <a:avLst/>
          </a:prstGeom>
          <a:solidFill>
            <a:srgbClr val="081F44">
              <a:alpha val="62000"/>
            </a:srgbClr>
          </a:solidFill>
          <a:ln w="10160">
            <a:solidFill>
              <a:srgbClr val="8B5CF6">
                <a:alpha val="7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/>
            <a:r>
              <a:rPr sz="850" b="1" dirty="0" err="1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透明解析</a:t>
            </a:r>
            <a:r>
              <a:rPr sz="850" b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|  </a:t>
            </a:r>
            <a:r>
              <a:rPr sz="850" b="1" dirty="0" err="1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加密会话</a:t>
            </a:r>
            <a:r>
              <a:rPr sz="850" b="1" dirty="0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|  </a:t>
            </a:r>
            <a:r>
              <a:rPr sz="850" b="1" dirty="0" err="1">
                <a:solidFill>
                  <a:srgbClr val="00D5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高效转发</a:t>
            </a:r>
            <a:endParaRPr sz="850" b="1" dirty="0">
              <a:solidFill>
                <a:srgbClr val="00D5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Text 15">
            <a:extLst>
              <a:ext uri="{FF2B5EF4-FFF2-40B4-BE49-F238E27FC236}">
                <a16:creationId xmlns:a16="http://schemas.microsoft.com/office/drawing/2014/main" id="{DF81C438-4F93-0F02-36B3-A65F1FAF5E7A}"/>
              </a:ext>
            </a:extLst>
          </p:cNvPr>
          <p:cNvSpPr/>
          <p:nvPr/>
        </p:nvSpPr>
        <p:spPr>
          <a:xfrm>
            <a:off x="5893646" y="1406381"/>
            <a:ext cx="3456432" cy="256032"/>
          </a:xfrm>
          <a:prstGeom prst="rect">
            <a:avLst/>
          </a:prstGeom>
          <a:noFill/>
          <a:ln/>
        </p:spPr>
        <p:txBody>
          <a:bodyPr vert="horz" wrap="square" lIns="18288" tIns="18288" rIns="18288" bIns="18288" rtlCol="0" anchor="t">
            <a:normAutofit lnSpcReduction="10000"/>
          </a:bodyPr>
          <a:lstStyle/>
          <a:p>
            <a:pPr marL="0" indent="0" algn="l">
              <a:spcAft>
                <a:spcPts val="400"/>
              </a:spcAft>
              <a:buNone/>
              <a:defRPr sz="1500" b="1">
                <a:solidFill>
                  <a:srgbClr val="F2FAFF"/>
                </a:solidFill>
                <a:latin typeface="Microsoft YaHei"/>
              </a:defRPr>
            </a:pPr>
            <a:r>
              <a:rPr lang="zh-CN" altLang="en-US" dirty="0"/>
              <a:t>代理静态</a:t>
            </a:r>
            <a:r>
              <a:rPr dirty="0" err="1"/>
              <a:t>证书生成流程结构图</a:t>
            </a:r>
            <a:endParaRPr lang="en-US" sz="1050" dirty="0"/>
          </a:p>
        </p:txBody>
      </p:sp>
      <p:sp>
        <p:nvSpPr>
          <p:cNvPr id="138" name="TextBox 26">
            <a:extLst>
              <a:ext uri="{FF2B5EF4-FFF2-40B4-BE49-F238E27FC236}">
                <a16:creationId xmlns:a16="http://schemas.microsoft.com/office/drawing/2014/main" id="{4275CAD0-5284-078F-EFE6-80503181F7C6}"/>
              </a:ext>
            </a:extLst>
          </p:cNvPr>
          <p:cNvSpPr txBox="1"/>
          <p:nvPr/>
        </p:nvSpPr>
        <p:spPr>
          <a:xfrm>
            <a:off x="5893646" y="1726421"/>
            <a:ext cx="3474720" cy="23774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50" b="0">
                <a:solidFill>
                  <a:srgbClr val="DAE7F0"/>
                </a:solidFill>
                <a:latin typeface="Microsoft YaHei"/>
              </a:defRPr>
            </a:pPr>
            <a:r>
              <a:t>HTTPS 代理证书从初始化到握手复用的控制链路</a:t>
            </a:r>
          </a:p>
        </p:txBody>
      </p:sp>
      <p:sp>
        <p:nvSpPr>
          <p:cNvPr id="140" name="Rounded Rectangle 27">
            <a:extLst>
              <a:ext uri="{FF2B5EF4-FFF2-40B4-BE49-F238E27FC236}">
                <a16:creationId xmlns:a16="http://schemas.microsoft.com/office/drawing/2014/main" id="{1858E2BC-BBB1-D086-53A6-50AF06975A47}"/>
              </a:ext>
            </a:extLst>
          </p:cNvPr>
          <p:cNvSpPr/>
          <p:nvPr/>
        </p:nvSpPr>
        <p:spPr>
          <a:xfrm>
            <a:off x="5930223" y="2128757"/>
            <a:ext cx="3401568" cy="658368"/>
          </a:xfrm>
          <a:prstGeom prst="roundRect">
            <a:avLst/>
          </a:prstGeom>
          <a:solidFill>
            <a:srgbClr val="0C1F3F"/>
          </a:solidFill>
          <a:ln w="12700">
            <a:solidFill>
              <a:srgbClr val="1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28">
            <a:extLst>
              <a:ext uri="{FF2B5EF4-FFF2-40B4-BE49-F238E27FC236}">
                <a16:creationId xmlns:a16="http://schemas.microsoft.com/office/drawing/2014/main" id="{3CCD783C-606F-CAAF-045F-63BD9E6A2853}"/>
              </a:ext>
            </a:extLst>
          </p:cNvPr>
          <p:cNvSpPr/>
          <p:nvPr/>
        </p:nvSpPr>
        <p:spPr>
          <a:xfrm>
            <a:off x="6076527" y="2329925"/>
            <a:ext cx="228600" cy="228600"/>
          </a:xfrm>
          <a:prstGeom prst="ellipse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0A1A37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44" name="TextBox 29">
            <a:extLst>
              <a:ext uri="{FF2B5EF4-FFF2-40B4-BE49-F238E27FC236}">
                <a16:creationId xmlns:a16="http://schemas.microsoft.com/office/drawing/2014/main" id="{FC5A0E94-FB88-DFEC-BE25-6E74FE21BE92}"/>
              </a:ext>
            </a:extLst>
          </p:cNvPr>
          <p:cNvSpPr txBox="1"/>
          <p:nvPr/>
        </p:nvSpPr>
        <p:spPr>
          <a:xfrm>
            <a:off x="6387423" y="2247628"/>
            <a:ext cx="280720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150" b="1">
                <a:solidFill>
                  <a:srgbClr val="F2FAFF"/>
                </a:solidFill>
                <a:latin typeface="Microsoft YaHei"/>
              </a:defRPr>
            </a:pPr>
            <a:r>
              <a:rPr dirty="0" err="1"/>
              <a:t>初始化</a:t>
            </a:r>
            <a:r>
              <a:rPr dirty="0"/>
              <a:t> CA </a:t>
            </a:r>
            <a:r>
              <a:rPr dirty="0" err="1"/>
              <a:t>根证书</a:t>
            </a:r>
            <a:endParaRPr dirty="0"/>
          </a:p>
        </p:txBody>
      </p:sp>
      <p:sp>
        <p:nvSpPr>
          <p:cNvPr id="146" name="TextBox 30">
            <a:extLst>
              <a:ext uri="{FF2B5EF4-FFF2-40B4-BE49-F238E27FC236}">
                <a16:creationId xmlns:a16="http://schemas.microsoft.com/office/drawing/2014/main" id="{0425C918-81A7-4F06-85AC-C85FC1DA0E5A}"/>
              </a:ext>
            </a:extLst>
          </p:cNvPr>
          <p:cNvSpPr txBox="1"/>
          <p:nvPr/>
        </p:nvSpPr>
        <p:spPr>
          <a:xfrm>
            <a:off x="6387423" y="2485373"/>
            <a:ext cx="2807208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88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生成根证书并加载本地信任入口</a:t>
            </a:r>
            <a:endParaRPr dirty="0"/>
          </a:p>
        </p:txBody>
      </p:sp>
      <p:sp>
        <p:nvSpPr>
          <p:cNvPr id="148" name="Rounded Rectangle 31">
            <a:extLst>
              <a:ext uri="{FF2B5EF4-FFF2-40B4-BE49-F238E27FC236}">
                <a16:creationId xmlns:a16="http://schemas.microsoft.com/office/drawing/2014/main" id="{D0615B73-0D37-1097-C777-8931C18B4D6C}"/>
              </a:ext>
            </a:extLst>
          </p:cNvPr>
          <p:cNvSpPr/>
          <p:nvPr/>
        </p:nvSpPr>
        <p:spPr>
          <a:xfrm>
            <a:off x="5930223" y="2915140"/>
            <a:ext cx="3401568" cy="658368"/>
          </a:xfrm>
          <a:prstGeom prst="roundRect">
            <a:avLst/>
          </a:prstGeom>
          <a:solidFill>
            <a:srgbClr val="0C1F3F"/>
          </a:solidFill>
          <a:ln w="12700">
            <a:solidFill>
              <a:srgbClr val="FFB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32">
            <a:extLst>
              <a:ext uri="{FF2B5EF4-FFF2-40B4-BE49-F238E27FC236}">
                <a16:creationId xmlns:a16="http://schemas.microsoft.com/office/drawing/2014/main" id="{009376C7-D88F-553F-B697-DF1F070DD4B2}"/>
              </a:ext>
            </a:extLst>
          </p:cNvPr>
          <p:cNvSpPr/>
          <p:nvPr/>
        </p:nvSpPr>
        <p:spPr>
          <a:xfrm>
            <a:off x="6076527" y="3116309"/>
            <a:ext cx="228600" cy="228600"/>
          </a:xfrm>
          <a:prstGeom prst="ellipse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0A1A37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2" name="TextBox 33">
            <a:extLst>
              <a:ext uri="{FF2B5EF4-FFF2-40B4-BE49-F238E27FC236}">
                <a16:creationId xmlns:a16="http://schemas.microsoft.com/office/drawing/2014/main" id="{DE3FDF87-C0FC-2A66-F379-06134E74BA8C}"/>
              </a:ext>
            </a:extLst>
          </p:cNvPr>
          <p:cNvSpPr txBox="1"/>
          <p:nvPr/>
        </p:nvSpPr>
        <p:spPr>
          <a:xfrm>
            <a:off x="6387423" y="3034012"/>
            <a:ext cx="280720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150" b="1">
                <a:solidFill>
                  <a:srgbClr val="F2FAFF"/>
                </a:solidFill>
                <a:latin typeface="Microsoft YaHei"/>
              </a:defRPr>
            </a:pPr>
            <a:r>
              <a:rPr dirty="0" err="1"/>
              <a:t>域名证书签发</a:t>
            </a:r>
            <a:endParaRPr dirty="0"/>
          </a:p>
        </p:txBody>
      </p:sp>
      <p:sp>
        <p:nvSpPr>
          <p:cNvPr id="154" name="TextBox 34">
            <a:extLst>
              <a:ext uri="{FF2B5EF4-FFF2-40B4-BE49-F238E27FC236}">
                <a16:creationId xmlns:a16="http://schemas.microsoft.com/office/drawing/2014/main" id="{398CE4C3-06D0-3A22-A504-12AA48CF99E9}"/>
              </a:ext>
            </a:extLst>
          </p:cNvPr>
          <p:cNvSpPr txBox="1"/>
          <p:nvPr/>
        </p:nvSpPr>
        <p:spPr>
          <a:xfrm>
            <a:off x="6387423" y="3271757"/>
            <a:ext cx="2807208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88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按目标</a:t>
            </a:r>
            <a:r>
              <a:rPr dirty="0"/>
              <a:t> Host </a:t>
            </a:r>
            <a:r>
              <a:rPr dirty="0" err="1"/>
              <a:t>动态生成站点证书</a:t>
            </a:r>
            <a:endParaRPr dirty="0"/>
          </a:p>
        </p:txBody>
      </p:sp>
      <p:sp>
        <p:nvSpPr>
          <p:cNvPr id="156" name="Rounded Rectangle 35">
            <a:extLst>
              <a:ext uri="{FF2B5EF4-FFF2-40B4-BE49-F238E27FC236}">
                <a16:creationId xmlns:a16="http://schemas.microsoft.com/office/drawing/2014/main" id="{371E0820-56B3-0AB9-81A8-112CEA5C14AE}"/>
              </a:ext>
            </a:extLst>
          </p:cNvPr>
          <p:cNvSpPr/>
          <p:nvPr/>
        </p:nvSpPr>
        <p:spPr>
          <a:xfrm>
            <a:off x="5930223" y="3701525"/>
            <a:ext cx="3401568" cy="658368"/>
          </a:xfrm>
          <a:prstGeom prst="roundRect">
            <a:avLst/>
          </a:prstGeom>
          <a:solidFill>
            <a:srgbClr val="0C1F3F"/>
          </a:solidFill>
          <a:ln w="12700">
            <a:solidFill>
              <a:srgbClr val="47D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36">
            <a:extLst>
              <a:ext uri="{FF2B5EF4-FFF2-40B4-BE49-F238E27FC236}">
                <a16:creationId xmlns:a16="http://schemas.microsoft.com/office/drawing/2014/main" id="{41108B5E-6061-FBF0-ACE5-81963332DB82}"/>
              </a:ext>
            </a:extLst>
          </p:cNvPr>
          <p:cNvSpPr/>
          <p:nvPr/>
        </p:nvSpPr>
        <p:spPr>
          <a:xfrm>
            <a:off x="6076527" y="3902693"/>
            <a:ext cx="228600" cy="228600"/>
          </a:xfrm>
          <a:prstGeom prst="ellipse">
            <a:avLst/>
          </a:prstGeom>
          <a:solidFill>
            <a:srgbClr val="47D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0A1A37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0" name="TextBox 37">
            <a:extLst>
              <a:ext uri="{FF2B5EF4-FFF2-40B4-BE49-F238E27FC236}">
                <a16:creationId xmlns:a16="http://schemas.microsoft.com/office/drawing/2014/main" id="{CB373FB1-9408-D7EC-5220-D174DF2C1875}"/>
              </a:ext>
            </a:extLst>
          </p:cNvPr>
          <p:cNvSpPr txBox="1"/>
          <p:nvPr/>
        </p:nvSpPr>
        <p:spPr>
          <a:xfrm>
            <a:off x="6387423" y="3820397"/>
            <a:ext cx="280720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150" b="1">
                <a:solidFill>
                  <a:srgbClr val="F2FAFF"/>
                </a:solidFill>
                <a:latin typeface="Microsoft YaHei"/>
              </a:defRPr>
            </a:pPr>
            <a:r>
              <a:rPr dirty="0" err="1"/>
              <a:t>浏览器信任链</a:t>
            </a:r>
            <a:endParaRPr dirty="0"/>
          </a:p>
        </p:txBody>
      </p:sp>
      <p:sp>
        <p:nvSpPr>
          <p:cNvPr id="162" name="TextBox 38">
            <a:extLst>
              <a:ext uri="{FF2B5EF4-FFF2-40B4-BE49-F238E27FC236}">
                <a16:creationId xmlns:a16="http://schemas.microsoft.com/office/drawing/2014/main" id="{013EAAB4-9004-823D-A093-9A0727B2B210}"/>
              </a:ext>
            </a:extLst>
          </p:cNvPr>
          <p:cNvSpPr txBox="1"/>
          <p:nvPr/>
        </p:nvSpPr>
        <p:spPr>
          <a:xfrm>
            <a:off x="6387423" y="4058140"/>
            <a:ext cx="2807208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88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客户端通过本地</a:t>
            </a:r>
            <a:r>
              <a:rPr dirty="0"/>
              <a:t> CA </a:t>
            </a:r>
            <a:r>
              <a:rPr dirty="0" err="1"/>
              <a:t>完成校验</a:t>
            </a:r>
            <a:endParaRPr dirty="0"/>
          </a:p>
        </p:txBody>
      </p:sp>
      <p:sp>
        <p:nvSpPr>
          <p:cNvPr id="164" name="Rounded Rectangle 39">
            <a:extLst>
              <a:ext uri="{FF2B5EF4-FFF2-40B4-BE49-F238E27FC236}">
                <a16:creationId xmlns:a16="http://schemas.microsoft.com/office/drawing/2014/main" id="{95639D0F-7FDD-52F7-89A9-5077E549BA86}"/>
              </a:ext>
            </a:extLst>
          </p:cNvPr>
          <p:cNvSpPr/>
          <p:nvPr/>
        </p:nvSpPr>
        <p:spPr>
          <a:xfrm>
            <a:off x="5930223" y="4487909"/>
            <a:ext cx="3401568" cy="658368"/>
          </a:xfrm>
          <a:prstGeom prst="roundRect">
            <a:avLst/>
          </a:prstGeom>
          <a:solidFill>
            <a:srgbClr val="0C1F3F"/>
          </a:solidFill>
          <a:ln w="12700">
            <a:solidFill>
              <a:srgbClr val="9F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40">
            <a:extLst>
              <a:ext uri="{FF2B5EF4-FFF2-40B4-BE49-F238E27FC236}">
                <a16:creationId xmlns:a16="http://schemas.microsoft.com/office/drawing/2014/main" id="{19C09DB9-41C6-E552-F8AC-6A8603ADEE7B}"/>
              </a:ext>
            </a:extLst>
          </p:cNvPr>
          <p:cNvSpPr/>
          <p:nvPr/>
        </p:nvSpPr>
        <p:spPr>
          <a:xfrm>
            <a:off x="6076527" y="4689077"/>
            <a:ext cx="228600" cy="228600"/>
          </a:xfrm>
          <a:prstGeom prst="ellipse">
            <a:avLst/>
          </a:prstGeom>
          <a:solidFill>
            <a:srgbClr val="9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0A1A37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68" name="TextBox 41">
            <a:extLst>
              <a:ext uri="{FF2B5EF4-FFF2-40B4-BE49-F238E27FC236}">
                <a16:creationId xmlns:a16="http://schemas.microsoft.com/office/drawing/2014/main" id="{1C937576-DD4F-CDB0-2F7F-208579CCBA35}"/>
              </a:ext>
            </a:extLst>
          </p:cNvPr>
          <p:cNvSpPr txBox="1"/>
          <p:nvPr/>
        </p:nvSpPr>
        <p:spPr>
          <a:xfrm>
            <a:off x="6387423" y="4606781"/>
            <a:ext cx="2807208" cy="20116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150" b="1">
                <a:solidFill>
                  <a:srgbClr val="F2FAFF"/>
                </a:solidFill>
                <a:latin typeface="Microsoft YaHei"/>
              </a:defRPr>
            </a:pPr>
            <a:r>
              <a:t>代理握手复用</a:t>
            </a:r>
          </a:p>
        </p:txBody>
      </p:sp>
      <p:sp>
        <p:nvSpPr>
          <p:cNvPr id="170" name="TextBox 42">
            <a:extLst>
              <a:ext uri="{FF2B5EF4-FFF2-40B4-BE49-F238E27FC236}">
                <a16:creationId xmlns:a16="http://schemas.microsoft.com/office/drawing/2014/main" id="{67FA8391-777E-12F8-4D59-A2A675AF837F}"/>
              </a:ext>
            </a:extLst>
          </p:cNvPr>
          <p:cNvSpPr txBox="1"/>
          <p:nvPr/>
        </p:nvSpPr>
        <p:spPr>
          <a:xfrm>
            <a:off x="6387423" y="4844525"/>
            <a:ext cx="2807208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880" b="0">
                <a:solidFill>
                  <a:srgbClr val="DAE7F0"/>
                </a:solidFill>
                <a:latin typeface="Microsoft YaHei"/>
              </a:defRPr>
            </a:pPr>
            <a:r>
              <a:t>后续 HTTPS 会话复用证书能力</a:t>
            </a:r>
          </a:p>
        </p:txBody>
      </p:sp>
    </p:spTree>
    <p:extLst>
      <p:ext uri="{BB962C8B-B14F-4D97-AF65-F5344CB8AC3E}">
        <p14:creationId xmlns:p14="http://schemas.microsoft.com/office/powerpoint/2010/main" val="3674692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C4713-3796-BEFE-AFBB-00531573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>
            <a:extLst>
              <a:ext uri="{FF2B5EF4-FFF2-40B4-BE49-F238E27FC236}">
                <a16:creationId xmlns:a16="http://schemas.microsoft.com/office/drawing/2014/main" id="{C6260194-D3CF-41E4-AB5F-BF5E29BC84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415051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D646831-C4FC-2206-2796-0EEF4C360B38}"/>
              </a:ext>
            </a:extLst>
          </p:cNvPr>
          <p:cNvSpPr/>
          <p:nvPr/>
        </p:nvSpPr>
        <p:spPr>
          <a:xfrm>
            <a:off x="381000" y="309563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代理核心与转发流程</a:t>
            </a:r>
            <a:endParaRPr lang="en-US" sz="2700" dirty="0"/>
          </a:p>
        </p:txBody>
      </p:sp>
      <p:pic>
        <p:nvPicPr>
          <p:cNvPr id="4" name="Image 1" descr="image.png">
            <a:extLst>
              <a:ext uri="{FF2B5EF4-FFF2-40B4-BE49-F238E27FC236}">
                <a16:creationId xmlns:a16="http://schemas.microsoft.com/office/drawing/2014/main" id="{927C6DCF-7B68-57FC-F8E1-0AAA6C80AB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D14BF2E2-9FBF-19BF-FD14-10C41086098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5452" y="0"/>
            <a:ext cx="1274335" cy="1182583"/>
          </a:xfrm>
          <a:prstGeom prst="rect">
            <a:avLst/>
          </a:prstGeom>
          <a:noFill/>
        </p:spPr>
      </p:pic>
      <p:sp>
        <p:nvSpPr>
          <p:cNvPr id="39" name="Text 0">
            <a:extLst>
              <a:ext uri="{FF2B5EF4-FFF2-40B4-BE49-F238E27FC236}">
                <a16:creationId xmlns:a16="http://schemas.microsoft.com/office/drawing/2014/main" id="{8AB2BEE2-F6A2-7E09-AB76-D0475E9BE26E}"/>
              </a:ext>
            </a:extLst>
          </p:cNvPr>
          <p:cNvSpPr/>
          <p:nvPr/>
        </p:nvSpPr>
        <p:spPr>
          <a:xfrm>
            <a:off x="381000" y="1030415"/>
            <a:ext cx="319125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四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. MITM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  <a:cs typeface="MiSans" pitchFamily="34" charset="-120"/>
              </a:rPr>
              <a:t> 中间人</a:t>
            </a:r>
            <a:endParaRPr lang="en-US" sz="1600" dirty="0">
              <a:latin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729BEC-16D0-F98F-07B6-998C75BF4E42}"/>
              </a:ext>
            </a:extLst>
          </p:cNvPr>
          <p:cNvSpPr/>
          <p:nvPr/>
        </p:nvSpPr>
        <p:spPr>
          <a:xfrm>
            <a:off x="4470400" y="206646"/>
            <a:ext cx="6175052" cy="66513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5104D8-D8DF-0653-4AB1-771B7C8056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9154" y="309563"/>
            <a:ext cx="5752082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559432-ACB3-1FB1-0387-075A0B5B2E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469385"/>
            <a:ext cx="4470400" cy="11907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C439697-89DE-8C3C-0B2F-1FEED3932A77}"/>
              </a:ext>
            </a:extLst>
          </p:cNvPr>
          <p:cNvSpPr txBox="1"/>
          <p:nvPr/>
        </p:nvSpPr>
        <p:spPr>
          <a:xfrm>
            <a:off x="381000" y="1414463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将捕获的请求体和响应体通过管道同时上传到存储服务器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" y="2039112"/>
            <a:ext cx="1298448" cy="256032"/>
          </a:xfrm>
          <a:prstGeom prst="roundRect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50" b="1" dirty="0" err="1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流程要点</a:t>
            </a:r>
            <a:endParaRPr sz="950" b="1" dirty="0">
              <a:solidFill>
                <a:srgbClr val="0716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84048" y="2322576"/>
            <a:ext cx="3401568" cy="713232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493776" y="2459736"/>
            <a:ext cx="310896" cy="310896"/>
          </a:xfrm>
          <a:prstGeom prst="ellipse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" y="2423160"/>
            <a:ext cx="2743200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双向解密转发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" y="2679192"/>
            <a:ext cx="2743200" cy="301752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代理在授权场景下分别维护客户端与目标服务器的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 TLS </a:t>
            </a: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会话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4048" y="3154680"/>
            <a:ext cx="3401568" cy="713232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7C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93776" y="3291840"/>
            <a:ext cx="310896" cy="310896"/>
          </a:xfrm>
          <a:prstGeom prst="ellipse">
            <a:avLst/>
          </a:prstGeom>
          <a:solidFill>
            <a:srgbClr val="7C56FF"/>
          </a:solidFill>
          <a:ln>
            <a:solidFill>
              <a:srgbClr val="7C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3255264"/>
            <a:ext cx="2743200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dirty="0" err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管道旁路上传</a:t>
            </a:r>
            <a:endParaRPr sz="1250" b="1" dirty="0">
              <a:solidFill>
                <a:srgbClr val="41EC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86968" y="3511296"/>
            <a:ext cx="2743200" cy="301752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请求体、响应体边转发边写入存储，降低代理主链路阻塞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84048" y="3986784"/>
            <a:ext cx="3401568" cy="713232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493776" y="4123944"/>
            <a:ext cx="310896" cy="310896"/>
          </a:xfrm>
          <a:prstGeom prst="ellipse">
            <a:avLst/>
          </a:prstGeom>
          <a:solidFill>
            <a:srgbClr val="35DD94"/>
          </a:solidFill>
          <a:ln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4087368"/>
            <a:ext cx="2743200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dirty="0" err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元数据实时回显</a:t>
            </a:r>
            <a:endParaRPr sz="1250" b="1" dirty="0">
              <a:solidFill>
                <a:srgbClr val="41EC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86968" y="4343400"/>
            <a:ext cx="2743200" cy="301752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会话、方法、状态码和耗时通过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 WebSocket </a:t>
            </a:r>
            <a:r>
              <a:rPr sz="96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推送至控制台</a:t>
            </a:r>
            <a:r>
              <a:rPr sz="96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" y="5010912"/>
            <a:ext cx="1993392" cy="256032"/>
          </a:xfrm>
          <a:prstGeom prst="roundRect">
            <a:avLst/>
          </a:prstGeom>
          <a:solidFill>
            <a:srgbClr val="BAE5FF"/>
          </a:solidFill>
          <a:ln>
            <a:solidFill>
              <a:srgbClr val="BA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TLS </a:t>
            </a:r>
            <a:r>
              <a:rPr lang="zh-CN" altLang="en-US"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嗅探</a:t>
            </a:r>
            <a:endParaRPr sz="950" b="1" dirty="0">
              <a:solidFill>
                <a:srgbClr val="07163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86967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67800" y="1460302"/>
            <a:ext cx="2743200" cy="4897041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>
            <a:alphaModFix amt="10000"/>
          </a:blip>
          <a:srcRect b="-2684"/>
          <a:stretch/>
        </p:blipFill>
        <p:spPr>
          <a:xfrm>
            <a:off x="9077325" y="1469827"/>
            <a:ext cx="2724150" cy="487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57522" y="1950380"/>
            <a:ext cx="2438400" cy="4352925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8B5CF6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>
            <a:alphaModFix amt="10000"/>
          </a:blip>
          <a:srcRect b="-3011"/>
          <a:stretch/>
        </p:blipFill>
        <p:spPr>
          <a:xfrm>
            <a:off x="9367047" y="1959905"/>
            <a:ext cx="2419350" cy="4333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8600" y="152400"/>
            <a:ext cx="12006072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altLang="zh-CN" sz="2700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代理核心与转发流程</a:t>
            </a: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4"/>
          <p:cNvSpPr/>
          <p:nvPr/>
        </p:nvSpPr>
        <p:spPr>
          <a:xfrm>
            <a:off x="228600" y="1187285"/>
            <a:ext cx="11987784" cy="246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350" dirty="0">
                <a:solidFill>
                  <a:srgbClr val="C8D6E5"/>
                </a:solidFill>
                <a:latin typeface="Lucida Fax" panose="02060602050505020204" pitchFamily="18" charset="0"/>
                <a:ea typeface="MiSans" pitchFamily="34" charset="-122"/>
                <a:cs typeface="MiSans" pitchFamily="34" charset="-120"/>
              </a:rPr>
              <a:t>在授权测试环境中，通过MITM（中间人）方式对HTTPS流量进行明文解析与留存，结合对象存储解决大文件抓包的内存压力问题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287084" y="1762475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5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2334" y="1800575"/>
            <a:ext cx="152400" cy="2667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06184" y="1762475"/>
            <a:ext cx="35753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抓包内容与数据结构</a:t>
            </a:r>
            <a:endParaRPr lang="en-US" sz="1350" dirty="0"/>
          </a:p>
        </p:txBody>
      </p:sp>
      <p:pic>
        <p:nvPicPr>
          <p:cNvPr id="21" name="Image 6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6184" y="2105375"/>
            <a:ext cx="85725" cy="4667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91909" y="2064894"/>
            <a:ext cx="3419856" cy="512064"/>
          </a:xfrm>
          <a:prstGeom prst="rect">
            <a:avLst/>
          </a:prstGeom>
          <a:noFill/>
          <a:ln/>
        </p:spPr>
        <p:txBody>
          <a:bodyPr vert="horz" wrap="square" lIns="76200" tIns="0" rIns="0" bIns="0" rtlCol="0" anchor="t"/>
          <a:lstStyle/>
          <a:p>
            <a:pPr>
              <a:lnSpc>
                <a:spcPts val="1313"/>
              </a:lnSpc>
            </a:pP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请求-响应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注册</a:t>
            </a:r>
            <a:r>
              <a:rPr lang="en-US" altLang="zh-CN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hook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读取头部信息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包含会话ID、方法、URL、状态码、耗时、头部及大小等元数据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3" name="Image 7" descr="imag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6184" y="2624487"/>
            <a:ext cx="85725" cy="13335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91909" y="2584006"/>
            <a:ext cx="3483864" cy="173736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t">
            <a:normAutofit/>
          </a:bodyPr>
          <a:lstStyle/>
          <a:p>
            <a:pPr>
              <a:lnSpc>
                <a:spcPts val="1313"/>
              </a:lnSpc>
            </a:pP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元数据通过WebSocket实时推送至前端控制台展示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5" name="Image 8" descr="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6184" y="2810225"/>
            <a:ext cx="85725" cy="466725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91909" y="2769744"/>
            <a:ext cx="3419856" cy="512064"/>
          </a:xfrm>
          <a:prstGeom prst="rect">
            <a:avLst/>
          </a:prstGeom>
          <a:noFill/>
          <a:ln/>
        </p:spPr>
        <p:txBody>
          <a:bodyPr vert="horz" wrap="square" lIns="7620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请求体与响应体（BodyCapture）作为可能的大对象，不直接推送，仅记录其在对象存储中的状态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7" name="Text 16"/>
          <p:cNvSpPr/>
          <p:nvPr/>
        </p:nvSpPr>
        <p:spPr>
          <a:xfrm>
            <a:off x="228600" y="3965972"/>
            <a:ext cx="4152900" cy="2663428"/>
          </a:xfrm>
          <a:prstGeom prst="roundRect">
            <a:avLst>
              <a:gd name="adj" fmla="val 2861"/>
            </a:avLst>
          </a:prstGeom>
          <a:solidFill>
            <a:srgbClr val="0F172A">
              <a:alpha val="3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17"/>
          <p:cNvSpPr/>
          <p:nvPr/>
        </p:nvSpPr>
        <p:spPr>
          <a:xfrm>
            <a:off x="352425" y="4089797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00D4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9" descr="imag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4338" y="4127897"/>
            <a:ext cx="219075" cy="2667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771525" y="4089797"/>
            <a:ext cx="35753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</a:t>
            </a:r>
            <a:r>
              <a:rPr lang="en-US" sz="135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对象存储集成</a:t>
            </a:r>
            <a:endParaRPr lang="en-US" sz="1350" dirty="0"/>
          </a:p>
        </p:txBody>
      </p:sp>
      <p:pic>
        <p:nvPicPr>
          <p:cNvPr id="31" name="Image 10" descr="imag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71525" y="4432697"/>
            <a:ext cx="95250" cy="295275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931354" y="4449175"/>
            <a:ext cx="3328416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目的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：流式存储MITM捕获的请求体与响应体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优化内存占用，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免大文件长时间占用代理进程与浏览器内存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33" name="Image 11" descr="image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71525" y="4804172"/>
            <a:ext cx="123825" cy="466725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33437" y="5249364"/>
            <a:ext cx="3300984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：已知长度数据通过管道流式上传；未知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分块数据先写入临时文件后上传。前端通过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api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/storage/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download接口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生成直链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下载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35" name="Text 21"/>
          <p:cNvSpPr/>
          <p:nvPr/>
        </p:nvSpPr>
        <p:spPr>
          <a:xfrm>
            <a:off x="4387977" y="2807208"/>
            <a:ext cx="4152900" cy="2663428"/>
          </a:xfrm>
          <a:prstGeom prst="roundRect">
            <a:avLst>
              <a:gd name="adj" fmla="val 2861"/>
            </a:avLst>
          </a:prstGeom>
          <a:solidFill>
            <a:srgbClr val="0F172A">
              <a:alpha val="30000"/>
            </a:srgbClr>
          </a:solidFill>
          <a:ln w="9525">
            <a:solidFill>
              <a:srgbClr val="FFFFFF">
                <a:alpha val="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2"/>
          <p:cNvSpPr/>
          <p:nvPr/>
        </p:nvSpPr>
        <p:spPr>
          <a:xfrm>
            <a:off x="4511802" y="2931033"/>
            <a:ext cx="342900" cy="342900"/>
          </a:xfrm>
          <a:prstGeom prst="roundRect">
            <a:avLst>
              <a:gd name="adj" fmla="val 10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12" descr="image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597527" y="2969133"/>
            <a:ext cx="171450" cy="26670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4930902" y="2931033"/>
            <a:ext cx="357530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设计优势</a:t>
            </a:r>
            <a:endParaRPr lang="en-US" sz="1350" dirty="0"/>
          </a:p>
        </p:txBody>
      </p:sp>
      <p:sp>
        <p:nvSpPr>
          <p:cNvPr id="39" name="Text 24"/>
          <p:cNvSpPr/>
          <p:nvPr/>
        </p:nvSpPr>
        <p:spPr>
          <a:xfrm>
            <a:off x="4930902" y="3235833"/>
            <a:ext cx="3502152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内存友好</a:t>
            </a:r>
            <a:r>
              <a:rPr lang="zh-CN" altLang="en-US" sz="1200" b="1" dirty="0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元数据与大对象分离，保障系统在高频、大流量抓包场景下的稳定性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0" name="Text 25"/>
          <p:cNvSpPr/>
          <p:nvPr/>
        </p:nvSpPr>
        <p:spPr>
          <a:xfrm>
            <a:off x="4930902" y="3781990"/>
            <a:ext cx="3502152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313"/>
              </a:lnSpc>
              <a:buNone/>
            </a:pPr>
            <a:r>
              <a:rPr lang="en-US" sz="1200" b="1" dirty="0" err="1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观测与留存平衡</a:t>
            </a:r>
            <a:r>
              <a:rPr lang="en-US" sz="1050" dirty="0" err="1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前端实时观测流量细节，后端持久化存储完整内容，便于事后分析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1" name="Text 26"/>
          <p:cNvSpPr/>
          <p:nvPr/>
        </p:nvSpPr>
        <p:spPr>
          <a:xfrm>
            <a:off x="4930902" y="4346632"/>
            <a:ext cx="3502152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313"/>
              </a:lnSpc>
            </a:pPr>
            <a:r>
              <a:rPr lang="zh-CN" altLang="en-US" sz="1200" b="1" dirty="0">
                <a:solidFill>
                  <a:srgbClr val="00D4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维护性强</a:t>
            </a:r>
            <a:r>
              <a:rPr lang="en-US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</a:rPr>
              <a:t>：</a:t>
            </a:r>
            <a:r>
              <a:rPr lang="en-US" altLang="zh-CN" sz="120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</a:rPr>
              <a:t> </a:t>
            </a:r>
            <a:r>
              <a:rPr lang="en-US" altLang="zh-CN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流程统一</a:t>
            </a:r>
            <a:r>
              <a:rPr lang="en-US" altLang="zh-CN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sz="1200" dirty="0" err="1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MITM解析、流量统计、存储上传均通过责任链模式集成于代理转发主流程</a:t>
            </a:r>
            <a:r>
              <a:rPr lang="en-US" sz="1200" dirty="0">
                <a:solidFill>
                  <a:srgbClr val="C8D6E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6A7399C6-AABD-5638-CD94-6525C45650C6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5053" y="-66885"/>
            <a:ext cx="1560582" cy="1448220"/>
          </a:xfrm>
          <a:prstGeom prst="rect">
            <a:avLst/>
          </a:prstGeom>
          <a:noFill/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5152A9D5-D181-50F8-47F1-F013A3D16596}"/>
              </a:ext>
            </a:extLst>
          </p:cNvPr>
          <p:cNvSpPr txBox="1"/>
          <p:nvPr/>
        </p:nvSpPr>
        <p:spPr>
          <a:xfrm>
            <a:off x="228600" y="582168"/>
            <a:ext cx="4733925" cy="37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E0F7FF"/>
                </a:solidFill>
                <a:latin typeface="+mn-ea"/>
              </a:rPr>
              <a:t>五</a:t>
            </a:r>
            <a:r>
              <a:rPr lang="en-US" altLang="zh-CN" sz="1600" b="1" dirty="0">
                <a:solidFill>
                  <a:srgbClr val="E0F7FF"/>
                </a:solidFill>
                <a:latin typeface="+mn-ea"/>
              </a:rPr>
              <a:t>.  </a:t>
            </a:r>
            <a:r>
              <a:rPr lang="zh-CN" altLang="en-US" sz="1600" b="1" dirty="0">
                <a:solidFill>
                  <a:srgbClr val="E0F7FF"/>
                </a:solidFill>
                <a:latin typeface="+mn-ea"/>
              </a:rPr>
              <a:t>对象存储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8" name="Rounded Rectangle 47"/>
          <p:cNvSpPr/>
          <p:nvPr/>
        </p:nvSpPr>
        <p:spPr>
          <a:xfrm>
            <a:off x="8750970" y="1662773"/>
            <a:ext cx="2066543" cy="4498848"/>
          </a:xfrm>
          <a:prstGeom prst="roundRect">
            <a:avLst/>
          </a:prstGeom>
          <a:solidFill>
            <a:srgbClr val="0A1F4E">
              <a:alpha val="100000"/>
            </a:srgbClr>
          </a:solidFill>
          <a:ln w="1397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97274" y="1863941"/>
            <a:ext cx="1737360" cy="25603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存储链路闭环</a:t>
            </a:r>
          </a:p>
        </p:txBody>
      </p:sp>
      <p:sp>
        <p:nvSpPr>
          <p:cNvPr id="50" name="Oval 49"/>
          <p:cNvSpPr/>
          <p:nvPr/>
        </p:nvSpPr>
        <p:spPr>
          <a:xfrm>
            <a:off x="8897274" y="2348572"/>
            <a:ext cx="310896" cy="310896"/>
          </a:xfrm>
          <a:prstGeom prst="ellipse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9610" y="2302852"/>
            <a:ext cx="1225296" cy="5303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Hook 注册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提取请求-响应元数据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39006" y="2732621"/>
            <a:ext cx="27432" cy="292608"/>
          </a:xfrm>
          <a:prstGeom prst="rect">
            <a:avLst/>
          </a:prstGeom>
          <a:solidFill>
            <a:srgbClr val="BAE5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905846" y="3061803"/>
            <a:ext cx="310896" cy="310896"/>
          </a:xfrm>
          <a:prstGeom prst="ellipse">
            <a:avLst/>
          </a:prstGeom>
          <a:solidFill>
            <a:srgbClr val="35DD94"/>
          </a:solidFill>
          <a:ln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000" b="1" dirty="0">
              <a:solidFill>
                <a:srgbClr val="F5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308182" y="3016083"/>
            <a:ext cx="1225296" cy="5303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dirty="0" err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流式上传</a:t>
            </a:r>
            <a:endParaRPr sz="1150" b="1" dirty="0">
              <a:solidFill>
                <a:srgbClr val="F5FA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200"/>
              </a:spcAft>
            </a:pPr>
            <a:r>
              <a:rPr sz="85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Body </a:t>
            </a:r>
            <a:r>
              <a:rPr sz="85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写入</a:t>
            </a:r>
            <a:r>
              <a:rPr sz="85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5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MinIO</a:t>
            </a:r>
            <a:r>
              <a:rPr sz="850" b="0" dirty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50" b="0" dirty="0" err="1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对象存储</a:t>
            </a:r>
            <a:endParaRPr sz="850" b="0" dirty="0">
              <a:solidFill>
                <a:srgbClr val="C4D4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9047578" y="3445851"/>
            <a:ext cx="27432" cy="292608"/>
          </a:xfrm>
          <a:prstGeom prst="rect">
            <a:avLst/>
          </a:prstGeom>
          <a:solidFill>
            <a:srgbClr val="BAE5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905846" y="3921338"/>
            <a:ext cx="310896" cy="310896"/>
          </a:xfrm>
          <a:prstGeom prst="ellipse">
            <a:avLst/>
          </a:prstGeom>
          <a:solidFill>
            <a:srgbClr val="FFB044"/>
          </a:solidFill>
          <a:ln>
            <a:solidFill>
              <a:srgbClr val="FFB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b="1" dirty="0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000" b="1" dirty="0">
              <a:solidFill>
                <a:srgbClr val="F5FA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308182" y="3875619"/>
            <a:ext cx="1225296" cy="53035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下载分析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接口生成直链用于回溯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05846" y="4716867"/>
            <a:ext cx="1700784" cy="256032"/>
          </a:xfrm>
          <a:prstGeom prst="roundRect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950" b="1" dirty="0" err="1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轻量元数据</a:t>
            </a:r>
            <a:r>
              <a:rPr lang="en-US"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推送</a:t>
            </a:r>
            <a:r>
              <a:rPr lang="en-US"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)</a:t>
            </a:r>
            <a:r>
              <a:rPr sz="950" b="1" dirty="0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950" b="1" dirty="0" err="1">
                <a:solidFill>
                  <a:srgbClr val="07163C"/>
                </a:solidFill>
                <a:latin typeface="Microsoft YaHei"/>
                <a:ea typeface="Microsoft YaHei"/>
                <a:cs typeface="Microsoft YaHei"/>
              </a:rPr>
              <a:t>持久化</a:t>
            </a:r>
            <a:endParaRPr sz="950" b="1" dirty="0">
              <a:solidFill>
                <a:srgbClr val="07163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AE004D-F52C-229F-B383-675AE4364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FBAC1F-1BDD-23B6-15FB-8A3EA4A1EAF6}"/>
              </a:ext>
            </a:extLst>
          </p:cNvPr>
          <p:cNvSpPr/>
          <p:nvPr/>
        </p:nvSpPr>
        <p:spPr>
          <a:xfrm>
            <a:off x="9067800" y="1460302"/>
            <a:ext cx="2743200" cy="4897041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00D4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78DFB1DF-4E13-689E-9B25-4EDC61D74C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rcRect b="-2684"/>
          <a:stretch/>
        </p:blipFill>
        <p:spPr>
          <a:xfrm>
            <a:off x="9077325" y="1469827"/>
            <a:ext cx="2724150" cy="48768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C0E17B3-E4E3-9D35-5BA6-7CBB1CD44E3D}"/>
              </a:ext>
            </a:extLst>
          </p:cNvPr>
          <p:cNvSpPr/>
          <p:nvPr/>
        </p:nvSpPr>
        <p:spPr>
          <a:xfrm>
            <a:off x="9220200" y="1732359"/>
            <a:ext cx="2438400" cy="4352925"/>
          </a:xfrm>
          <a:prstGeom prst="roundRect">
            <a:avLst>
              <a:gd name="adj" fmla="val 100000"/>
            </a:avLst>
          </a:prstGeom>
          <a:noFill/>
          <a:ln w="9525">
            <a:solidFill>
              <a:srgbClr val="8B5CF6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1" descr="image.png">
            <a:extLst>
              <a:ext uri="{FF2B5EF4-FFF2-40B4-BE49-F238E27FC236}">
                <a16:creationId xmlns:a16="http://schemas.microsoft.com/office/drawing/2014/main" id="{2DA14952-0BA1-C542-EB58-A96454CD826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b="-3011"/>
          <a:stretch/>
        </p:blipFill>
        <p:spPr>
          <a:xfrm>
            <a:off x="9229725" y="1741884"/>
            <a:ext cx="2419350" cy="4333875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B0FE917D-6192-B469-CBDB-FCA1B10259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>
            <a:extLst>
              <a:ext uri="{FF2B5EF4-FFF2-40B4-BE49-F238E27FC236}">
                <a16:creationId xmlns:a16="http://schemas.microsoft.com/office/drawing/2014/main" id="{4AA49846-1C56-090B-0C88-E3431075FD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2E13DF0-C1D8-095D-1057-1EDC00E83B55}"/>
              </a:ext>
            </a:extLst>
          </p:cNvPr>
          <p:cNvSpPr/>
          <p:nvPr/>
        </p:nvSpPr>
        <p:spPr>
          <a:xfrm>
            <a:off x="228600" y="152400"/>
            <a:ext cx="12006072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zh-CN" altLang="en-US" sz="2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7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A49769D3-481E-F53E-88C3-842F6B5C134C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5053" y="-66885"/>
            <a:ext cx="1560582" cy="1448220"/>
          </a:xfrm>
          <a:prstGeom prst="rect">
            <a:avLst/>
          </a:prstGeom>
          <a:noFill/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0B2F6B5-9BD7-2CCA-CF1D-263A563FBAE3}"/>
              </a:ext>
            </a:extLst>
          </p:cNvPr>
          <p:cNvSpPr txBox="1"/>
          <p:nvPr/>
        </p:nvSpPr>
        <p:spPr>
          <a:xfrm>
            <a:off x="-3657600" y="-3657600"/>
            <a:ext cx="228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F40ED5-BD35-7E8D-678A-4A2A0B7DC7A2}"/>
              </a:ext>
            </a:extLst>
          </p:cNvPr>
          <p:cNvSpPr/>
          <p:nvPr/>
        </p:nvSpPr>
        <p:spPr>
          <a:xfrm>
            <a:off x="3352800" y="1205484"/>
            <a:ext cx="7848600" cy="5029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6ECE97E-B8C4-A3C7-E15E-FBD7551E3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0470" y="1741884"/>
            <a:ext cx="7483726" cy="412551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20040" y="1243584"/>
            <a:ext cx="2468880" cy="65836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连接生命周期统一管理</a:t>
            </a:r>
          </a:p>
          <a:p>
            <a:pPr algn="l">
              <a:spcAft>
                <a:spcPts val="200"/>
              </a:spcAft>
            </a:pPr>
            <a:r>
              <a:rPr sz="1019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实时在线、历史留存与短连接观察在同一数据模型内完成。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" y="2121408"/>
            <a:ext cx="2542032" cy="676656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29768" y="2258568"/>
            <a:ext cx="310896" cy="310896"/>
          </a:xfrm>
          <a:prstGeom prst="ellipse">
            <a:avLst/>
          </a:prstGeom>
          <a:solidFill>
            <a:srgbClr val="00D8FF"/>
          </a:solidFill>
          <a:ln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2221991"/>
            <a:ext cx="1883663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在线连接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2478024"/>
            <a:ext cx="1883663" cy="265176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记录活动连接状态，支持前端实时刷新和主动管理。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2971800"/>
            <a:ext cx="2542032" cy="676656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7C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29768" y="3108960"/>
            <a:ext cx="310896" cy="310896"/>
          </a:xfrm>
          <a:prstGeom prst="ellipse">
            <a:avLst/>
          </a:prstGeom>
          <a:solidFill>
            <a:srgbClr val="7C56FF"/>
          </a:solidFill>
          <a:ln>
            <a:solidFill>
              <a:srgbClr val="7C5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3072384"/>
            <a:ext cx="1883663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墓碑机制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3328416"/>
            <a:ext cx="1883663" cy="265176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短连接关闭后保留观察窗口，避免瞬时连接无法追踪。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3822191"/>
            <a:ext cx="2542032" cy="676656"/>
          </a:xfrm>
          <a:prstGeom prst="roundRect">
            <a:avLst/>
          </a:prstGeom>
          <a:solidFill>
            <a:srgbClr val="0A1F4E">
              <a:alpha val="82000"/>
            </a:srgbClr>
          </a:solidFill>
          <a:ln w="13970"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429768" y="3959352"/>
            <a:ext cx="310896" cy="310896"/>
          </a:xfrm>
          <a:prstGeom prst="ellipse">
            <a:avLst/>
          </a:prstGeom>
          <a:solidFill>
            <a:srgbClr val="35DD94"/>
          </a:solidFill>
          <a:ln>
            <a:solidFill>
              <a:srgbClr val="35D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5FA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3922776"/>
            <a:ext cx="1883663" cy="219456"/>
          </a:xfrm>
          <a:prstGeom prst="rect">
            <a:avLst/>
          </a:prstGeom>
          <a:noFill/>
        </p:spPr>
        <p:txBody>
          <a:bodyPr wrap="square" lIns="36576" tIns="27432" rIns="36576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字段筛选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4178807"/>
            <a:ext cx="1883663" cy="265176"/>
          </a:xfrm>
          <a:prstGeom prst="rect">
            <a:avLst/>
          </a:prstGeom>
          <a:noFill/>
        </p:spPr>
        <p:txBody>
          <a:bodyPr wrap="square" lIns="36576" tIns="0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按状态、目标、用户和时间维度区分历史连接与实时连接。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0040" y="4773168"/>
            <a:ext cx="2542032" cy="676656"/>
          </a:xfrm>
          <a:prstGeom prst="roundRect">
            <a:avLst/>
          </a:prstGeom>
          <a:solidFill>
            <a:srgbClr val="0A1F4E">
              <a:alpha val="80000"/>
            </a:srgbClr>
          </a:solidFill>
          <a:ln w="1397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5488" y="4882896"/>
            <a:ext cx="2212848" cy="42062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41ECFF"/>
                </a:solidFill>
                <a:latin typeface="Microsoft YaHei"/>
                <a:ea typeface="Microsoft YaHei"/>
                <a:cs typeface="Microsoft YaHei"/>
              </a:rPr>
              <a:t>生命周期阶段</a:t>
            </a:r>
            <a:r>
              <a:rPr sz="880" b="0">
                <a:solidFill>
                  <a:srgbClr val="C4D4E8"/>
                </a:solidFill>
                <a:latin typeface="Microsoft YaHei"/>
                <a:ea typeface="Microsoft YaHei"/>
                <a:cs typeface="Microsoft YaHei"/>
              </a:rPr>
              <a:t>：活动登记 / 状态快照 / 关闭标记 / 墓碑保留 / 定时清理</a:t>
            </a:r>
          </a:p>
        </p:txBody>
      </p:sp>
    </p:spTree>
    <p:extLst>
      <p:ext uri="{BB962C8B-B14F-4D97-AF65-F5344CB8AC3E}">
        <p14:creationId xmlns:p14="http://schemas.microsoft.com/office/powerpoint/2010/main" val="892210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27" y="8186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 err="1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流量监控与访问控制</a:t>
            </a:r>
            <a:endParaRPr lang="en-US" sz="2700" dirty="0"/>
          </a:p>
        </p:txBody>
      </p:sp>
      <p:pic>
        <p:nvPicPr>
          <p:cNvPr id="14" name="Image 3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0342" y="1378157"/>
            <a:ext cx="219075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9417" y="1330532"/>
            <a:ext cx="2432304" cy="274320"/>
          </a:xfrm>
          <a:prstGeom prst="rect">
            <a:avLst/>
          </a:prstGeom>
          <a:noFill/>
          <a:ln/>
        </p:spPr>
        <p:txBody>
          <a:bodyPr vert="horz" wrap="none" lIns="7620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实现机制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351309" y="1711532"/>
            <a:ext cx="2651760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D4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责任链模式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350342" y="2063957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351309" y="1978232"/>
            <a:ext cx="2596896" cy="336052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保证系统的灵活性，模块可插拔。集成不同功能</a:t>
            </a:r>
            <a:endParaRPr lang="en-US" sz="9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312300" y="5777701"/>
            <a:ext cx="265176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设计优势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311333" y="6006301"/>
            <a:ext cx="81022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342282" y="6044401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低侵入性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97753" y="6006301"/>
            <a:ext cx="81022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1228702" y="6044401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可观测性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2084173" y="6006301"/>
            <a:ext cx="810369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2038922" y="6042877"/>
            <a:ext cx="768096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D4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可扩展性</a:t>
            </a:r>
            <a:endParaRPr lang="en-US" sz="9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220538B9-BED9-D93F-B4CE-5F4E5AB734D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63779" y="26426"/>
            <a:ext cx="1070309" cy="993247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7DE38CDD-57B7-3F8C-9618-9742902A43E5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责任链模式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6497271F-C326-3D3B-0A33-4C1DD1E75692}"/>
              </a:ext>
            </a:extLst>
          </p:cNvPr>
          <p:cNvSpPr/>
          <p:nvPr/>
        </p:nvSpPr>
        <p:spPr>
          <a:xfrm>
            <a:off x="250032" y="2521989"/>
            <a:ext cx="2651760" cy="1554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r>
              <a:rPr lang="zh-CN" altLang="en-US" sz="900" b="1" dirty="0">
                <a:solidFill>
                  <a:srgbClr val="E0F7FF"/>
                </a:solidFill>
                <a:latin typeface="ui-sans-serif" pitchFamily="34" charset="0"/>
                <a:ea typeface="ui-sans-serif" pitchFamily="34" charset="-122"/>
              </a:rPr>
              <a:t>触发方式</a:t>
            </a:r>
            <a:endParaRPr lang="en-US" sz="900" b="1" dirty="0">
              <a:solidFill>
                <a:srgbClr val="E0F7FF"/>
              </a:solidFill>
              <a:latin typeface="ui-sans-serif" pitchFamily="34" charset="0"/>
              <a:ea typeface="ui-sans-serif" pitchFamily="34" charset="-122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4631962B-1B67-A012-0F45-C570BE698A14}"/>
              </a:ext>
            </a:extLst>
          </p:cNvPr>
          <p:cNvSpPr/>
          <p:nvPr/>
        </p:nvSpPr>
        <p:spPr>
          <a:xfrm>
            <a:off x="249065" y="2750589"/>
            <a:ext cx="810220" cy="228600"/>
          </a:xfrm>
          <a:prstGeom prst="roundRect">
            <a:avLst>
              <a:gd name="adj" fmla="val 1666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9B48765-48CD-2BE2-F43C-1CE05E980AFC}"/>
              </a:ext>
            </a:extLst>
          </p:cNvPr>
          <p:cNvSpPr txBox="1"/>
          <p:nvPr/>
        </p:nvSpPr>
        <p:spPr>
          <a:xfrm>
            <a:off x="248098" y="2819397"/>
            <a:ext cx="4323902" cy="263149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三种触发方式：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</a:rPr>
              <a:t>1. </a:t>
            </a:r>
            <a:r>
              <a:rPr lang="zh-CN" altLang="en-US" sz="1100" dirty="0">
                <a:solidFill>
                  <a:schemeClr val="bg1"/>
                </a:solidFill>
              </a:rPr>
              <a:t>注册</a:t>
            </a:r>
            <a:r>
              <a:rPr lang="en-US" altLang="zh-CN" sz="1100" dirty="0">
                <a:solidFill>
                  <a:schemeClr val="bg1"/>
                </a:solidFill>
              </a:rPr>
              <a:t>HTTPS/CONNECT 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Hook</a:t>
            </a:r>
            <a:r>
              <a:rPr lang="zh-CN" altLang="en-US" sz="1100" dirty="0">
                <a:solidFill>
                  <a:schemeClr val="bg1"/>
                </a:solidFill>
              </a:rPr>
              <a:t>，动态切换传输通道。</a:t>
            </a:r>
            <a:endParaRPr lang="en-US" altLang="zh-CN" sz="1100" dirty="0">
              <a:solidFill>
                <a:schemeClr val="bg1"/>
              </a:solidFill>
            </a:endParaRPr>
          </a:p>
          <a:p>
            <a:r>
              <a:rPr lang="en-US" altLang="zh-CN" sz="1100" dirty="0">
                <a:solidFill>
                  <a:schemeClr val="bg1"/>
                </a:solidFill>
              </a:rPr>
              <a:t>      </a:t>
            </a:r>
            <a:r>
              <a:rPr lang="zh-CN" altLang="en-US" sz="1100" dirty="0">
                <a:solidFill>
                  <a:schemeClr val="bg1"/>
                </a:solidFill>
              </a:rPr>
              <a:t>比如对于</a:t>
            </a:r>
            <a:r>
              <a:rPr lang="en-US" altLang="zh-CN" sz="1100" dirty="0">
                <a:solidFill>
                  <a:schemeClr val="bg1"/>
                </a:solidFill>
              </a:rPr>
              <a:t>MITM</a:t>
            </a:r>
            <a:r>
              <a:rPr lang="zh-CN" altLang="en-US" sz="1100" dirty="0">
                <a:solidFill>
                  <a:schemeClr val="bg1"/>
                </a:solidFill>
              </a:rPr>
              <a:t>不支持的</a:t>
            </a:r>
            <a:r>
              <a:rPr lang="en-US" altLang="zh-CN" sz="1100" dirty="0">
                <a:solidFill>
                  <a:schemeClr val="bg1"/>
                </a:solidFill>
              </a:rPr>
              <a:t>ssh</a:t>
            </a:r>
            <a:r>
              <a:rPr lang="zh-CN" altLang="en-US" sz="1100" dirty="0">
                <a:solidFill>
                  <a:schemeClr val="bg1"/>
                </a:solidFill>
              </a:rPr>
              <a:t>协议，可以动态使用隧道透传。</a:t>
            </a:r>
            <a:r>
              <a:rPr lang="en-US" altLang="zh-CN" sz="1100" dirty="0">
                <a:solidFill>
                  <a:schemeClr val="bg1"/>
                </a:solidFill>
              </a:rPr>
              <a:t> </a:t>
            </a:r>
            <a:r>
              <a:rPr lang="zh-CN" altLang="en-US" sz="1100" dirty="0">
                <a:solidFill>
                  <a:schemeClr val="bg1"/>
                </a:solidFill>
              </a:rPr>
              <a:t>避 免  解析失败。极大增加我们系统的可扩展性。通过</a:t>
            </a:r>
            <a:r>
              <a:rPr lang="en-US" altLang="zh-CN" sz="1100" dirty="0">
                <a:solidFill>
                  <a:schemeClr val="bg1"/>
                </a:solidFill>
              </a:rPr>
              <a:t>connect Hook</a:t>
            </a:r>
            <a:r>
              <a:rPr lang="zh-CN" altLang="en-US" sz="1100" dirty="0">
                <a:solidFill>
                  <a:schemeClr val="bg1"/>
                </a:solidFill>
              </a:rPr>
              <a:t>完成端口确认，分支切换</a:t>
            </a:r>
            <a:r>
              <a:rPr lang="en-US" altLang="zh-CN" sz="1100" dirty="0">
                <a:solidFill>
                  <a:schemeClr val="bg1"/>
                </a:solidFill>
              </a:rPr>
              <a:t>,</a:t>
            </a:r>
            <a:r>
              <a:rPr lang="zh-CN" altLang="en-US" sz="1100" dirty="0">
                <a:solidFill>
                  <a:schemeClr val="bg1"/>
                </a:solidFill>
              </a:rPr>
              <a:t>流量嗅探，代理逻辑处理，理论上可以支持任何协议的代理</a:t>
            </a:r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</a:rPr>
              <a:t>2. req Hook</a:t>
            </a:r>
            <a:r>
              <a:rPr lang="zh-CN" altLang="en-US" sz="1100" dirty="0">
                <a:solidFill>
                  <a:schemeClr val="bg1"/>
                </a:solidFill>
              </a:rPr>
              <a:t>请求过滤器：对匹配成功的，请求的数据包进行预处理。比如：增加身份验证字段，自定义编码类型，统计上行流量等</a:t>
            </a:r>
            <a:endParaRPr lang="en-US" altLang="zh-CN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100" dirty="0">
              <a:solidFill>
                <a:schemeClr val="bg1"/>
              </a:solidFill>
            </a:endParaRPr>
          </a:p>
          <a:p>
            <a:endParaRPr lang="en-US" altLang="zh-CN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100" dirty="0">
                <a:solidFill>
                  <a:schemeClr val="bg1"/>
                </a:solidFill>
              </a:rPr>
              <a:t>3. resp Hook </a:t>
            </a:r>
            <a:r>
              <a:rPr lang="zh-CN" altLang="en-US" sz="1100" dirty="0">
                <a:solidFill>
                  <a:schemeClr val="bg1"/>
                </a:solidFill>
              </a:rPr>
              <a:t>响应过滤器 ：对匹配成功的，响应数据包进行后处理。比如：返回</a:t>
            </a:r>
            <a:r>
              <a:rPr lang="en-US" altLang="zh-CN" sz="1100" dirty="0">
                <a:solidFill>
                  <a:schemeClr val="bg1"/>
                </a:solidFill>
              </a:rPr>
              <a:t>403forbidden</a:t>
            </a:r>
            <a:r>
              <a:rPr lang="zh-CN" altLang="en-US" sz="1100" dirty="0">
                <a:solidFill>
                  <a:schemeClr val="bg1"/>
                </a:solidFill>
              </a:rPr>
              <a:t>，修改响应头，统计下行流量等</a:t>
            </a:r>
          </a:p>
        </p:txBody>
      </p:sp>
      <p:sp>
        <p:nvSpPr>
          <p:cNvPr id="69" name="新增右侧流程面板"/>
          <p:cNvSpPr/>
          <p:nvPr/>
        </p:nvSpPr>
        <p:spPr>
          <a:xfrm>
            <a:off x="5150000" y="1270000"/>
            <a:ext cx="5850000" cy="4700000"/>
          </a:xfrm>
          <a:prstGeom prst="rect">
            <a:avLst/>
          </a:prstGeom>
          <a:solidFill>
            <a:srgbClr val="123A63">
              <a:alpha val="64000"/>
            </a:srgbClr>
          </a:solidFill>
          <a:ln w="12700">
            <a:solidFill>
              <a:srgbClr val="00D4FF">
                <a:alpha val="42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0" name="新增面板左侧强调条"/>
          <p:cNvSpPr/>
          <p:nvPr/>
        </p:nvSpPr>
        <p:spPr>
          <a:xfrm>
            <a:off x="5350000" y="1480000"/>
            <a:ext cx="65000" cy="31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1" name="新增流程标题"/>
          <p:cNvSpPr/>
          <p:nvPr/>
        </p:nvSpPr>
        <p:spPr>
          <a:xfrm>
            <a:off x="5520000" y="1415000"/>
            <a:ext cx="3100000" cy="34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50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责任链处理流程</a:t>
            </a:r>
            <a:endParaRPr lang="zh-CN" sz="1500" dirty="0"/>
          </a:p>
        </p:txBody>
      </p:sp>
      <p:sp>
        <p:nvSpPr>
          <p:cNvPr id="72" name="新增流程说明"/>
          <p:cNvSpPr/>
          <p:nvPr/>
        </p:nvSpPr>
        <p:spPr>
          <a:xfrm>
            <a:off x="5520000" y="1740000"/>
            <a:ext cx="4800000" cy="25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20" dirty="0">
                <a:solidFill>
                  <a:srgbClr val="C9E8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按照协议识别、Hook 匹配、策略执行、结果回写的顺序完成流量治理。</a:t>
            </a:r>
            <a:endParaRPr lang="zh-CN" sz="820" dirty="0"/>
          </a:p>
        </p:txBody>
      </p:sp>
      <p:sp>
        <p:nvSpPr>
          <p:cNvPr id="73" name="新增流程卡片01"/>
          <p:cNvSpPr/>
          <p:nvPr/>
        </p:nvSpPr>
        <p:spPr>
          <a:xfrm>
            <a:off x="5530000" y="21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4" name="新增流程编号01"/>
          <p:cNvSpPr/>
          <p:nvPr/>
        </p:nvSpPr>
        <p:spPr>
          <a:xfrm>
            <a:off x="5740000" y="22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5" name="新增流程编号文字01"/>
          <p:cNvSpPr/>
          <p:nvPr/>
        </p:nvSpPr>
        <p:spPr>
          <a:xfrm>
            <a:off x="5740000" y="22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01</a:t>
            </a:r>
            <a:endParaRPr lang="zh-CN" sz="900" dirty="0"/>
          </a:p>
        </p:txBody>
      </p:sp>
      <p:sp>
        <p:nvSpPr>
          <p:cNvPr id="76" name="新增流程标题文字01"/>
          <p:cNvSpPr/>
          <p:nvPr/>
        </p:nvSpPr>
        <p:spPr>
          <a:xfrm>
            <a:off x="6210000" y="22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请求进入代理</a:t>
            </a:r>
            <a:endParaRPr lang="zh-CN" sz="1080" dirty="0"/>
          </a:p>
        </p:txBody>
      </p:sp>
      <p:sp>
        <p:nvSpPr>
          <p:cNvPr id="77" name="新增流程说明文字01"/>
          <p:cNvSpPr/>
          <p:nvPr/>
        </p:nvSpPr>
        <p:spPr>
          <a:xfrm>
            <a:off x="6210000" y="24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统一接收 HTTP / HTTPS / CONNECT 流量，完成连接上下文初始化。</a:t>
            </a:r>
            <a:endParaRPr lang="zh-CN" sz="800" dirty="0"/>
          </a:p>
        </p:txBody>
      </p:sp>
      <p:sp>
        <p:nvSpPr>
          <p:cNvPr id="78" name="新增流程连接线01"/>
          <p:cNvSpPr/>
          <p:nvPr/>
        </p:nvSpPr>
        <p:spPr>
          <a:xfrm>
            <a:off x="7920000" y="2745000"/>
            <a:ext cx="70000" cy="120000"/>
          </a:xfrm>
          <a:prstGeom prst="roundRect">
            <a:avLst/>
          </a:prstGeom>
          <a:solidFill>
            <a:srgbClr val="00D4FF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79" name="新增流程卡片02"/>
          <p:cNvSpPr/>
          <p:nvPr/>
        </p:nvSpPr>
        <p:spPr>
          <a:xfrm>
            <a:off x="5530000" y="29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0" name="新增流程编号02"/>
          <p:cNvSpPr/>
          <p:nvPr/>
        </p:nvSpPr>
        <p:spPr>
          <a:xfrm>
            <a:off x="5740000" y="30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1" name="新增流程编号文字02"/>
          <p:cNvSpPr/>
          <p:nvPr/>
        </p:nvSpPr>
        <p:spPr>
          <a:xfrm>
            <a:off x="5740000" y="30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02</a:t>
            </a:r>
            <a:endParaRPr lang="zh-CN" sz="900" dirty="0"/>
          </a:p>
        </p:txBody>
      </p:sp>
      <p:sp>
        <p:nvSpPr>
          <p:cNvPr id="82" name="新增流程标题文字02"/>
          <p:cNvSpPr/>
          <p:nvPr/>
        </p:nvSpPr>
        <p:spPr>
          <a:xfrm>
            <a:off x="6210000" y="30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协议与通道识别</a:t>
            </a:r>
            <a:endParaRPr lang="zh-CN" sz="1080" dirty="0"/>
          </a:p>
        </p:txBody>
      </p:sp>
      <p:sp>
        <p:nvSpPr>
          <p:cNvPr id="83" name="新增流程说明文字02"/>
          <p:cNvSpPr/>
          <p:nvPr/>
        </p:nvSpPr>
        <p:spPr>
          <a:xfrm>
            <a:off x="6210000" y="32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根据端口、CONNECT 信息与解析结果，判断走 MITM 解析或隧道透传。</a:t>
            </a:r>
            <a:endParaRPr lang="zh-CN" sz="800" dirty="0"/>
          </a:p>
        </p:txBody>
      </p:sp>
      <p:sp>
        <p:nvSpPr>
          <p:cNvPr id="84" name="新增流程连接线02"/>
          <p:cNvSpPr/>
          <p:nvPr/>
        </p:nvSpPr>
        <p:spPr>
          <a:xfrm>
            <a:off x="7920000" y="3545000"/>
            <a:ext cx="70000" cy="120000"/>
          </a:xfrm>
          <a:prstGeom prst="roundRect">
            <a:avLst/>
          </a:prstGeom>
          <a:solidFill>
            <a:srgbClr val="00D4FF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5" name="新增流程卡片03"/>
          <p:cNvSpPr/>
          <p:nvPr/>
        </p:nvSpPr>
        <p:spPr>
          <a:xfrm>
            <a:off x="5530000" y="37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6" name="新增流程编号03"/>
          <p:cNvSpPr/>
          <p:nvPr/>
        </p:nvSpPr>
        <p:spPr>
          <a:xfrm>
            <a:off x="5740000" y="38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87" name="新增流程编号文字03"/>
          <p:cNvSpPr/>
          <p:nvPr/>
        </p:nvSpPr>
        <p:spPr>
          <a:xfrm>
            <a:off x="5740000" y="38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03</a:t>
            </a:r>
            <a:endParaRPr lang="zh-CN" sz="900" dirty="0"/>
          </a:p>
        </p:txBody>
      </p:sp>
      <p:sp>
        <p:nvSpPr>
          <p:cNvPr id="88" name="新增流程标题文字03"/>
          <p:cNvSpPr/>
          <p:nvPr/>
        </p:nvSpPr>
        <p:spPr>
          <a:xfrm>
            <a:off x="6210000" y="38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Hook 节点匹配</a:t>
            </a:r>
            <a:endParaRPr lang="zh-CN" sz="1080" dirty="0"/>
          </a:p>
        </p:txBody>
      </p:sp>
      <p:sp>
        <p:nvSpPr>
          <p:cNvPr id="89" name="新增流程说明文字03"/>
          <p:cNvSpPr/>
          <p:nvPr/>
        </p:nvSpPr>
        <p:spPr>
          <a:xfrm>
            <a:off x="6210000" y="40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按 req / resp / connect 节点顺序匹配过滤器，动态挂载处理逻辑。</a:t>
            </a:r>
            <a:endParaRPr lang="zh-CN" sz="800" dirty="0"/>
          </a:p>
        </p:txBody>
      </p:sp>
      <p:sp>
        <p:nvSpPr>
          <p:cNvPr id="90" name="新增流程连接线03"/>
          <p:cNvSpPr/>
          <p:nvPr/>
        </p:nvSpPr>
        <p:spPr>
          <a:xfrm>
            <a:off x="7920000" y="4345000"/>
            <a:ext cx="70000" cy="120000"/>
          </a:xfrm>
          <a:prstGeom prst="roundRect">
            <a:avLst/>
          </a:prstGeom>
          <a:solidFill>
            <a:srgbClr val="00D4FF">
              <a:alpha val="7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1" name="新增流程卡片04"/>
          <p:cNvSpPr/>
          <p:nvPr/>
        </p:nvSpPr>
        <p:spPr>
          <a:xfrm>
            <a:off x="5530000" y="4500000"/>
            <a:ext cx="4850000" cy="610000"/>
          </a:xfrm>
          <a:prstGeom prst="roundRect">
            <a:avLst/>
          </a:prstGeom>
          <a:solidFill>
            <a:srgbClr val="1B4F83">
              <a:alpha val="72000"/>
            </a:srgbClr>
          </a:solidFill>
          <a:ln w="9525">
            <a:solidFill>
              <a:srgbClr val="5ADFFF">
                <a:alpha val="3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2" name="新增流程编号04"/>
          <p:cNvSpPr/>
          <p:nvPr/>
        </p:nvSpPr>
        <p:spPr>
          <a:xfrm>
            <a:off x="5740000" y="4645000"/>
            <a:ext cx="340000" cy="320000"/>
          </a:xfrm>
          <a:prstGeom prst="roundRect">
            <a:avLst/>
          </a:prstGeom>
          <a:solidFill>
            <a:srgbClr val="00D4FF">
              <a:alpha val="10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3" name="新增流程编号文字04"/>
          <p:cNvSpPr/>
          <p:nvPr/>
        </p:nvSpPr>
        <p:spPr>
          <a:xfrm>
            <a:off x="5740000" y="4696000"/>
            <a:ext cx="34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900" b="1" dirty="0">
                <a:solidFill>
                  <a:srgbClr val="071528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04</a:t>
            </a:r>
            <a:endParaRPr lang="zh-CN" sz="900" dirty="0"/>
          </a:p>
        </p:txBody>
      </p:sp>
      <p:sp>
        <p:nvSpPr>
          <p:cNvPr id="94" name="新增流程标题文字04"/>
          <p:cNvSpPr/>
          <p:nvPr/>
        </p:nvSpPr>
        <p:spPr>
          <a:xfrm>
            <a:off x="6210000" y="4612000"/>
            <a:ext cx="3800000" cy="18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1080" b="1" dirty="0">
                <a:solidFill>
                  <a:srgbClr val="E0F7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策略执行与记录</a:t>
            </a:r>
            <a:endParaRPr lang="zh-CN" sz="1080" dirty="0"/>
          </a:p>
        </p:txBody>
      </p:sp>
      <p:sp>
        <p:nvSpPr>
          <p:cNvPr id="95" name="新增流程说明文字04"/>
          <p:cNvSpPr/>
          <p:nvPr/>
        </p:nvSpPr>
        <p:spPr>
          <a:xfrm>
            <a:off x="6210000" y="4840000"/>
            <a:ext cx="3900000" cy="19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sz="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完成鉴权、拦截、改写、编码和上下行流量统计，回写处理结果。</a:t>
            </a:r>
            <a:endParaRPr lang="zh-CN" sz="800" dirty="0"/>
          </a:p>
        </p:txBody>
      </p:sp>
      <p:sp>
        <p:nvSpPr>
          <p:cNvPr id="96" name="新增能力标签链式解耦"/>
          <p:cNvSpPr/>
          <p:nvPr/>
        </p:nvSpPr>
        <p:spPr>
          <a:xfrm>
            <a:off x="5520000" y="5455000"/>
            <a:ext cx="1320000" cy="300000"/>
          </a:xfrm>
          <a:prstGeom prst="roundRect">
            <a:avLst/>
          </a:prstGeom>
          <a:solidFill>
            <a:srgbClr val="264F89">
              <a:alpha val="76000"/>
            </a:srgbClr>
          </a:solidFill>
          <a:ln w="7620">
            <a:solidFill>
              <a:srgbClr val="00D4FF">
                <a:alpha val="2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7" name="新增能力标签文字链式解耦"/>
          <p:cNvSpPr/>
          <p:nvPr/>
        </p:nvSpPr>
        <p:spPr>
          <a:xfrm>
            <a:off x="5520000" y="5501000"/>
            <a:ext cx="1320000" cy="17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760" b="1" dirty="0">
                <a:solidFill>
                  <a:srgbClr val="00D4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链式解耦</a:t>
            </a:r>
            <a:endParaRPr lang="zh-CN" sz="760" dirty="0"/>
          </a:p>
        </p:txBody>
      </p:sp>
      <p:sp>
        <p:nvSpPr>
          <p:cNvPr id="98" name="新增能力标签动态分支"/>
          <p:cNvSpPr/>
          <p:nvPr/>
        </p:nvSpPr>
        <p:spPr>
          <a:xfrm>
            <a:off x="7120000" y="5455000"/>
            <a:ext cx="1320000" cy="300000"/>
          </a:xfrm>
          <a:prstGeom prst="roundRect">
            <a:avLst/>
          </a:prstGeom>
          <a:solidFill>
            <a:srgbClr val="264F89">
              <a:alpha val="76000"/>
            </a:srgbClr>
          </a:solidFill>
          <a:ln w="7620">
            <a:solidFill>
              <a:srgbClr val="00D4FF">
                <a:alpha val="2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99" name="新增能力标签文字动态分支"/>
          <p:cNvSpPr/>
          <p:nvPr/>
        </p:nvSpPr>
        <p:spPr>
          <a:xfrm>
            <a:off x="7120000" y="5501000"/>
            <a:ext cx="1320000" cy="17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760" b="1" dirty="0">
                <a:solidFill>
                  <a:srgbClr val="00D4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动态分支</a:t>
            </a:r>
            <a:endParaRPr lang="zh-CN" sz="760" dirty="0"/>
          </a:p>
        </p:txBody>
      </p:sp>
      <p:sp>
        <p:nvSpPr>
          <p:cNvPr id="100" name="新增能力标签统计闭环"/>
          <p:cNvSpPr/>
          <p:nvPr/>
        </p:nvSpPr>
        <p:spPr>
          <a:xfrm>
            <a:off x="8720000" y="5455000"/>
            <a:ext cx="1320000" cy="300000"/>
          </a:xfrm>
          <a:prstGeom prst="roundRect">
            <a:avLst/>
          </a:prstGeom>
          <a:solidFill>
            <a:srgbClr val="264F89">
              <a:alpha val="76000"/>
            </a:srgbClr>
          </a:solidFill>
          <a:ln w="7620">
            <a:solidFill>
              <a:srgbClr val="00D4FF">
                <a:alpha val="25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zh-CN" dirty="0"/>
          </a:p>
        </p:txBody>
      </p:sp>
      <p:sp>
        <p:nvSpPr>
          <p:cNvPr id="101" name="新增能力标签文字统计闭环"/>
          <p:cNvSpPr/>
          <p:nvPr/>
        </p:nvSpPr>
        <p:spPr>
          <a:xfrm>
            <a:off x="8720000" y="5501000"/>
            <a:ext cx="1320000" cy="170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sz="760" b="1" dirty="0">
                <a:solidFill>
                  <a:srgbClr val="00D4FF"/>
                </a:solidFill>
                <a:latin typeface="MiSans" pitchFamily="34" charset="-122"/>
                <a:ea typeface="MiSans" pitchFamily="34" charset="-122"/>
                <a:cs typeface="MiSans" pitchFamily="34" charset="-122"/>
              </a:rPr>
              <a:t>统计闭环</a:t>
            </a:r>
            <a:endParaRPr lang="zh-CN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09182-B6ED-9473-5754-4AFBFC49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428156-8509-D4B6-B016-7FE8E5E22C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01E03741-0E94-AA58-E9FC-3E63DDD89E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9236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CC8F801-089E-6A75-CB8A-6CC3890FF3A9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流量监控与访问控制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098D9A9-F9C6-AD3C-EAC6-FF151418027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59802" y="7178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02859261-8FD0-CCF2-A886-7AE74D609BFF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二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</a:t>
            </a:r>
            <a:r>
              <a:rPr lang="en-US" b="1" dirty="0" err="1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流量监控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F8E667-0DC4-0363-1C5D-389D65CBFA84}"/>
              </a:ext>
            </a:extLst>
          </p:cNvPr>
          <p:cNvSpPr/>
          <p:nvPr/>
        </p:nvSpPr>
        <p:spPr>
          <a:xfrm>
            <a:off x="3866692" y="727764"/>
            <a:ext cx="7182308" cy="574923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AA8295-9290-F135-FC68-DFEB1F5257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319" y="786023"/>
            <a:ext cx="7023072" cy="29747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E9D5AE7-00BD-ED37-9AF5-6372DB16DBF3}"/>
              </a:ext>
            </a:extLst>
          </p:cNvPr>
          <p:cNvSpPr txBox="1"/>
          <p:nvPr/>
        </p:nvSpPr>
        <p:spPr>
          <a:xfrm>
            <a:off x="317619" y="1170071"/>
            <a:ext cx="332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隧道模式统计和非隧道模式统计略有不同。</a:t>
            </a:r>
            <a:endParaRPr lang="en-US" altLang="zh-CN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BDC1D5-E87C-EF19-431E-57E3D16A12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8850" y="3949617"/>
            <a:ext cx="6371122" cy="292475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2F24D66-7E24-17A2-CA0F-C4120DC8A2A4}"/>
              </a:ext>
            </a:extLst>
          </p:cNvPr>
          <p:cNvSpPr txBox="1"/>
          <p:nvPr/>
        </p:nvSpPr>
        <p:spPr>
          <a:xfrm>
            <a:off x="317619" y="2214305"/>
            <a:ext cx="3263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发</a:t>
            </a:r>
            <a:r>
              <a:rPr lang="en-US" altLang="zh-CN" sz="1400" dirty="0">
                <a:solidFill>
                  <a:schemeClr val="bg1"/>
                </a:solidFill>
              </a:rPr>
              <a:t>hook</a:t>
            </a:r>
            <a:r>
              <a:rPr lang="zh-CN" altLang="en-US" sz="1400" dirty="0">
                <a:solidFill>
                  <a:schemeClr val="bg1"/>
                </a:solidFill>
              </a:rPr>
              <a:t>绑定。我们要手动添加计数器因为是透传，不存在过滤器，所以不触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5287930-C051-6899-B7A8-824880C10203}"/>
              </a:ext>
            </a:extLst>
          </p:cNvPr>
          <p:cNvSpPr txBox="1"/>
          <p:nvPr/>
        </p:nvSpPr>
        <p:spPr>
          <a:xfrm>
            <a:off x="317619" y="3509557"/>
            <a:ext cx="3263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通过过滤器来完成计数器绑定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7619" y="4505591"/>
            <a:ext cx="2834640" cy="448056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1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00499" y="4743335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7659" y="4670183"/>
            <a:ext cx="2331720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隧道：在</a:t>
            </a:r>
            <a:r>
              <a:rPr dirty="0"/>
              <a:t> TCP </a:t>
            </a:r>
            <a:r>
              <a:rPr dirty="0" err="1"/>
              <a:t>上下文累计字节</a:t>
            </a:r>
            <a:endParaRPr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F7D573-D78C-D38E-5D7F-AA932068D03F}"/>
              </a:ext>
            </a:extLst>
          </p:cNvPr>
          <p:cNvSpPr/>
          <p:nvPr/>
        </p:nvSpPr>
        <p:spPr>
          <a:xfrm>
            <a:off x="300235" y="1909181"/>
            <a:ext cx="1206381" cy="272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隧道透传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EB66927-B63F-0CD6-329A-C8DDF242CA15}"/>
              </a:ext>
            </a:extLst>
          </p:cNvPr>
          <p:cNvSpPr/>
          <p:nvPr/>
        </p:nvSpPr>
        <p:spPr>
          <a:xfrm>
            <a:off x="317619" y="3148784"/>
            <a:ext cx="1447800" cy="2903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非隧道透传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6294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B1AD8-81A1-B10C-D720-2379C7FF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2B4331-29DB-98FE-98BE-997557A37E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64B5B3D7-871F-743C-338C-1353F68693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7704613-A6B2-3A4D-C42C-79E7A05E4C8A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流量监控与访问控制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50B5B8DE-02CB-69C3-91F1-5AC377F5CE2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23C1296A-1F64-D5A8-68AC-80C62565AEDD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三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访问控制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DC95C3-503E-4C57-8A2B-ED14BE7EC630}"/>
              </a:ext>
            </a:extLst>
          </p:cNvPr>
          <p:cNvSpPr txBox="1"/>
          <p:nvPr/>
        </p:nvSpPr>
        <p:spPr>
          <a:xfrm>
            <a:off x="317619" y="1585938"/>
            <a:ext cx="3147958" cy="683264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spAutoFit/>
          </a:bodyPr>
          <a:lstStyle/>
          <a:p>
            <a:pPr algn="l">
              <a:spcAft>
                <a:spcPts val="400"/>
              </a:spcAft>
              <a:buNone/>
              <a:defRPr sz="2100" b="0">
                <a:solidFill>
                  <a:srgbClr val="F2FAFF"/>
                </a:solidFill>
                <a:latin typeface="Microsoft YaHei"/>
              </a:defRPr>
            </a:pPr>
            <a:r>
              <a:rPr sz="1400" dirty="0" err="1"/>
              <a:t>通过</a:t>
            </a:r>
            <a:r>
              <a:rPr sz="1400" dirty="0"/>
              <a:t> Connect </a:t>
            </a:r>
            <a:r>
              <a:rPr sz="1400" dirty="0" err="1"/>
              <a:t>Hook、过滤器</a:t>
            </a:r>
            <a:r>
              <a:rPr lang="zh-CN" altLang="en-US" sz="1400" dirty="0"/>
              <a:t>。</a:t>
            </a:r>
            <a:r>
              <a:rPr sz="1400" dirty="0" err="1"/>
              <a:t>完成访问控制，支持</a:t>
            </a:r>
            <a:r>
              <a:rPr lang="zh-CN" altLang="en-US" sz="1400" dirty="0"/>
              <a:t>目标</a:t>
            </a:r>
            <a:r>
              <a:rPr sz="1400" dirty="0" err="1"/>
              <a:t>主域名、域名正则、IP</a:t>
            </a:r>
            <a:r>
              <a:rPr sz="1400" dirty="0"/>
              <a:t> </a:t>
            </a:r>
            <a:r>
              <a:rPr sz="1400" dirty="0" err="1"/>
              <a:t>三种匹配模式</a:t>
            </a:r>
            <a:r>
              <a:rPr sz="1400" dirty="0"/>
              <a:t>。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4295A3-FA7C-A1A4-795F-36D87DEB8340}"/>
              </a:ext>
            </a:extLst>
          </p:cNvPr>
          <p:cNvSpPr txBox="1"/>
          <p:nvPr/>
        </p:nvSpPr>
        <p:spPr>
          <a:xfrm>
            <a:off x="244154" y="2805115"/>
            <a:ext cx="3035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：通过判断</a:t>
            </a:r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请求头第一层过滤。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718518-8400-5824-6BB5-AA28B4697EF7}"/>
              </a:ext>
            </a:extLst>
          </p:cNvPr>
          <p:cNvSpPr txBox="1"/>
          <p:nvPr/>
        </p:nvSpPr>
        <p:spPr>
          <a:xfrm>
            <a:off x="203318" y="3886200"/>
            <a:ext cx="3263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过滤器：通过过滤器绑定访问控制器。第二层过滤。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6241BC-21E4-4FA0-8C37-EB89C41547A0}"/>
              </a:ext>
            </a:extLst>
          </p:cNvPr>
          <p:cNvSpPr/>
          <p:nvPr/>
        </p:nvSpPr>
        <p:spPr>
          <a:xfrm>
            <a:off x="3523489" y="563554"/>
            <a:ext cx="7573136" cy="6286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E74A34-39A8-4BE9-F7BD-A0EB733CE6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00" y="570161"/>
            <a:ext cx="7515225" cy="573405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17619" y="4832125"/>
            <a:ext cx="2852928" cy="1325880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FFB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27347" y="4941853"/>
            <a:ext cx="438912" cy="41148"/>
          </a:xfrm>
          <a:prstGeom prst="rect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3067" y="5015005"/>
            <a:ext cx="2542032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250" b="1">
                <a:solidFill>
                  <a:srgbClr val="F2FAFF"/>
                </a:solidFill>
                <a:latin typeface="Microsoft YaHei"/>
              </a:defRPr>
            </a:pPr>
            <a:r>
              <a:t>控制策略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0499" y="5408197"/>
            <a:ext cx="64008" cy="64008"/>
          </a:xfrm>
          <a:prstGeom prst="rect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7659" y="5335045"/>
            <a:ext cx="235000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第一层：CONNECT</a:t>
            </a:r>
            <a:r>
              <a:rPr dirty="0"/>
              <a:t> Host/IP </a:t>
            </a:r>
            <a:r>
              <a:rPr dirty="0" err="1"/>
              <a:t>快速拒绝</a:t>
            </a:r>
            <a:endParaRPr dirty="0"/>
          </a:p>
        </p:txBody>
      </p:sp>
      <p:sp>
        <p:nvSpPr>
          <p:cNvPr id="58" name="Rectangle 57"/>
          <p:cNvSpPr/>
          <p:nvPr/>
        </p:nvSpPr>
        <p:spPr>
          <a:xfrm>
            <a:off x="500499" y="5719093"/>
            <a:ext cx="64008" cy="64008"/>
          </a:xfrm>
          <a:prstGeom prst="rect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7659" y="5645941"/>
            <a:ext cx="235000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第二层：责任链精细匹配</a:t>
            </a:r>
            <a:endParaRPr dirty="0"/>
          </a:p>
        </p:txBody>
      </p:sp>
      <p:sp>
        <p:nvSpPr>
          <p:cNvPr id="60" name="Rectangle 59"/>
          <p:cNvSpPr/>
          <p:nvPr/>
        </p:nvSpPr>
        <p:spPr>
          <a:xfrm>
            <a:off x="500499" y="6029989"/>
            <a:ext cx="64008" cy="64008"/>
          </a:xfrm>
          <a:prstGeom prst="rect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7659" y="5956837"/>
            <a:ext cx="235000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t>结果：返回</a:t>
            </a:r>
            <a:r>
              <a:rPr dirty="0"/>
              <a:t> 403 </a:t>
            </a:r>
            <a:r>
              <a:rPr dirty="0" err="1"/>
              <a:t>或断开连接</a:t>
            </a:r>
            <a:endParaRPr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B36E44-A28E-88FC-D091-A1BFA72ACED5}"/>
              </a:ext>
            </a:extLst>
          </p:cNvPr>
          <p:cNvSpPr txBox="1"/>
          <p:nvPr/>
        </p:nvSpPr>
        <p:spPr>
          <a:xfrm>
            <a:off x="317619" y="1170071"/>
            <a:ext cx="1358781" cy="36933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双检查机制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0F40D62-1928-4F8D-E03D-A599536A40B1}"/>
              </a:ext>
            </a:extLst>
          </p:cNvPr>
          <p:cNvSpPr/>
          <p:nvPr/>
        </p:nvSpPr>
        <p:spPr>
          <a:xfrm>
            <a:off x="317619" y="2438400"/>
            <a:ext cx="1206381" cy="272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第一层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3D4B4EE-AA9F-5AFD-28A8-B4B8D325BE1D}"/>
              </a:ext>
            </a:extLst>
          </p:cNvPr>
          <p:cNvSpPr/>
          <p:nvPr/>
        </p:nvSpPr>
        <p:spPr>
          <a:xfrm>
            <a:off x="281762" y="3539838"/>
            <a:ext cx="1206381" cy="272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第二层</a:t>
            </a:r>
          </a:p>
        </p:txBody>
      </p:sp>
    </p:spTree>
    <p:extLst>
      <p:ext uri="{BB962C8B-B14F-4D97-AF65-F5344CB8AC3E}">
        <p14:creationId xmlns:p14="http://schemas.microsoft.com/office/powerpoint/2010/main" val="3762462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604D4-2DAC-D40F-2A6E-6F7DE3E5D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03186D-B1AD-3163-67D1-1B00FDDF2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2460C273-FBF5-0B85-EE19-F00C0693E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1D3B86B-33B2-57E4-7EEA-E6A5BD2DECDC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E6DAF60-F8C1-DB92-DFE2-38CD3955AF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1A06915C-B2D1-1EA6-B141-CF748081C945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IP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860A9B-1E3D-6B68-B627-39062569891A}"/>
              </a:ext>
            </a:extLst>
          </p:cNvPr>
          <p:cNvSpPr/>
          <p:nvPr/>
        </p:nvSpPr>
        <p:spPr>
          <a:xfrm>
            <a:off x="317619" y="1123657"/>
            <a:ext cx="11758557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D3E155-587B-F8F6-C5EF-C0B610F7F9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14" y="1636630"/>
            <a:ext cx="10020300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835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A5AD6-3803-9B1A-889F-56D29D30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7E6A66-9CD4-38C5-0F2B-441FD676D3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DB84A11A-C5BE-D057-74A9-BCA71BC2E3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45AE7D5-BA79-D1EC-388B-1A757AC83A93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40075B1F-0138-6987-519A-66F0139E150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7238E96C-AB8E-1763-DEAA-EA7C2EA2B347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IP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CE552B-C6B2-06B5-A8F4-FAB011156BBD}"/>
              </a:ext>
            </a:extLst>
          </p:cNvPr>
          <p:cNvSpPr txBox="1"/>
          <p:nvPr/>
        </p:nvSpPr>
        <p:spPr>
          <a:xfrm>
            <a:off x="317619" y="1170071"/>
            <a:ext cx="3147958" cy="775597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spAutoFit/>
          </a:bodyPr>
          <a:lstStyle/>
          <a:p>
            <a:pPr algn="l">
              <a:spcAft>
                <a:spcPts val="400"/>
              </a:spcAft>
              <a:buNone/>
              <a:defRPr sz="2100" b="0">
                <a:solidFill>
                  <a:srgbClr val="F2FAFF"/>
                </a:solidFill>
                <a:latin typeface="Microsoft YaHei"/>
              </a:defRPr>
            </a:pPr>
            <a:r>
              <a:rPr sz="1600" dirty="0"/>
              <a:t>将 IP </a:t>
            </a:r>
            <a:r>
              <a:rPr sz="1600" dirty="0" err="1"/>
              <a:t>统一保存到</a:t>
            </a:r>
            <a:r>
              <a:rPr sz="1600" b="1" dirty="0" err="1">
                <a:solidFill>
                  <a:schemeClr val="accent2"/>
                </a:solidFill>
              </a:rPr>
              <a:t>连接记录</a:t>
            </a:r>
            <a:r>
              <a:rPr sz="1600" dirty="0" err="1"/>
              <a:t>中，命中规则时通过上下文定位会话并完成断连</a:t>
            </a:r>
            <a:r>
              <a:rPr sz="1600" dirty="0"/>
              <a:t>。</a:t>
            </a: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363903-3174-F9D1-0727-6F2CDAAA0B28}"/>
              </a:ext>
            </a:extLst>
          </p:cNvPr>
          <p:cNvSpPr txBox="1"/>
          <p:nvPr/>
        </p:nvSpPr>
        <p:spPr>
          <a:xfrm>
            <a:off x="279142" y="3218527"/>
            <a:ext cx="3035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Hook</a:t>
            </a:r>
            <a:r>
              <a:rPr lang="zh-CN" altLang="en-US" dirty="0">
                <a:solidFill>
                  <a:schemeClr val="bg1"/>
                </a:solidFill>
              </a:rPr>
              <a:t>：通过判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断</a:t>
            </a:r>
            <a:r>
              <a:rPr lang="en-US" altLang="zh-CN" dirty="0">
                <a:solidFill>
                  <a:schemeClr val="bg1"/>
                </a:solidFill>
              </a:rPr>
              <a:t>connect</a:t>
            </a:r>
            <a:r>
              <a:rPr lang="zh-CN" altLang="en-US" dirty="0">
                <a:solidFill>
                  <a:schemeClr val="bg1"/>
                </a:solidFill>
              </a:rPr>
              <a:t>请求头第一层过滤。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6057CDE-0D00-AD44-FE37-CB551C696E2A}"/>
              </a:ext>
            </a:extLst>
          </p:cNvPr>
          <p:cNvSpPr txBox="1"/>
          <p:nvPr/>
        </p:nvSpPr>
        <p:spPr>
          <a:xfrm>
            <a:off x="230751" y="4443985"/>
            <a:ext cx="3263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过滤器：通过过滤器绑定访问控制器。第二层过滤。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88F5BB-D094-7E14-C7D8-54DDF473872B}"/>
              </a:ext>
            </a:extLst>
          </p:cNvPr>
          <p:cNvSpPr/>
          <p:nvPr/>
        </p:nvSpPr>
        <p:spPr>
          <a:xfrm>
            <a:off x="3523488" y="1123657"/>
            <a:ext cx="8552688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5B0B31-6E71-731D-B67E-BA23C88125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557" y="1123657"/>
            <a:ext cx="7629525" cy="4695825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279142" y="5324686"/>
            <a:ext cx="2852928" cy="1326263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47D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33637" y="5446932"/>
            <a:ext cx="438912" cy="41148"/>
          </a:xfrm>
          <a:prstGeom prst="rect">
            <a:avLst/>
          </a:prstGeom>
          <a:solidFill>
            <a:srgbClr val="47D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34590" y="5507567"/>
            <a:ext cx="2542032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250" b="1">
                <a:solidFill>
                  <a:srgbClr val="F2FAFF"/>
                </a:solidFill>
                <a:latin typeface="Microsoft YaHei"/>
              </a:defRPr>
            </a:pPr>
            <a:r>
              <a:rPr dirty="0" err="1"/>
              <a:t>断连闭环</a:t>
            </a:r>
            <a:endParaRPr dirty="0"/>
          </a:p>
        </p:txBody>
      </p:sp>
      <p:sp>
        <p:nvSpPr>
          <p:cNvPr id="56" name="Rectangle 55"/>
          <p:cNvSpPr/>
          <p:nvPr/>
        </p:nvSpPr>
        <p:spPr>
          <a:xfrm>
            <a:off x="462022" y="5900759"/>
            <a:ext cx="64008" cy="64008"/>
          </a:xfrm>
          <a:prstGeom prst="rect">
            <a:avLst/>
          </a:prstGeom>
          <a:solidFill>
            <a:srgbClr val="47D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9182" y="5827607"/>
            <a:ext cx="235000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识别来源</a:t>
            </a:r>
            <a:r>
              <a:rPr dirty="0"/>
              <a:t> IP </a:t>
            </a:r>
            <a:r>
              <a:rPr dirty="0" err="1"/>
              <a:t>并写入上下文</a:t>
            </a:r>
            <a:endParaRPr dirty="0"/>
          </a:p>
        </p:txBody>
      </p:sp>
      <p:sp>
        <p:nvSpPr>
          <p:cNvPr id="58" name="Rectangle 57"/>
          <p:cNvSpPr/>
          <p:nvPr/>
        </p:nvSpPr>
        <p:spPr>
          <a:xfrm>
            <a:off x="462022" y="6211655"/>
            <a:ext cx="64008" cy="64008"/>
          </a:xfrm>
          <a:prstGeom prst="rect">
            <a:avLst/>
          </a:prstGeom>
          <a:solidFill>
            <a:srgbClr val="47D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9182" y="6138503"/>
            <a:ext cx="235000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t>规则命中后定位 Session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2022" y="6522551"/>
            <a:ext cx="64008" cy="64008"/>
          </a:xfrm>
          <a:prstGeom prst="rect">
            <a:avLst/>
          </a:prstGeom>
          <a:solidFill>
            <a:srgbClr val="47D8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9182" y="6449399"/>
            <a:ext cx="235000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调用连接关闭并清理记录</a:t>
            </a:r>
            <a:endParaRPr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CA56FE4-4F05-F014-1EC0-AFDE69CD294E}"/>
              </a:ext>
            </a:extLst>
          </p:cNvPr>
          <p:cNvSpPr/>
          <p:nvPr/>
        </p:nvSpPr>
        <p:spPr>
          <a:xfrm>
            <a:off x="334375" y="2889443"/>
            <a:ext cx="1206381" cy="272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第一层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91D3D46-1566-9B6D-EE59-F1EF66560DD5}"/>
              </a:ext>
            </a:extLst>
          </p:cNvPr>
          <p:cNvSpPr/>
          <p:nvPr/>
        </p:nvSpPr>
        <p:spPr>
          <a:xfrm>
            <a:off x="317619" y="4111746"/>
            <a:ext cx="1206381" cy="272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第二层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BBB6C53-3593-7058-B156-81A8FED82358}"/>
              </a:ext>
            </a:extLst>
          </p:cNvPr>
          <p:cNvSpPr txBox="1"/>
          <p:nvPr/>
        </p:nvSpPr>
        <p:spPr>
          <a:xfrm>
            <a:off x="334375" y="2210679"/>
            <a:ext cx="1358781" cy="36933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双检查机制</a:t>
            </a:r>
          </a:p>
        </p:txBody>
      </p:sp>
    </p:spTree>
    <p:extLst>
      <p:ext uri="{BB962C8B-B14F-4D97-AF65-F5344CB8AC3E}">
        <p14:creationId xmlns:p14="http://schemas.microsoft.com/office/powerpoint/2010/main" val="649894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8F583-F840-C1D0-6801-8C1687E1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5458B7-2A0A-3390-10C3-59F6097DA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21E2FAD1-6493-8884-BBFA-EFEFD9AC83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971F125-54FD-A013-2672-C2CCEAEA9139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BE9E002-C29F-F9FD-DFF6-83A1CE773F5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0AA99873-F828-1E8D-D686-AF2258A0E973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IP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管理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D8C828-51F8-7438-1754-D6A20DB2D5A4}"/>
              </a:ext>
            </a:extLst>
          </p:cNvPr>
          <p:cNvSpPr/>
          <p:nvPr/>
        </p:nvSpPr>
        <p:spPr>
          <a:xfrm>
            <a:off x="3783196" y="1123657"/>
            <a:ext cx="8292980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F922734-2E83-1EB9-CF17-3831431CB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7192" y="1141019"/>
            <a:ext cx="7848600" cy="5708795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03764" y="4312920"/>
            <a:ext cx="2907792" cy="1920240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1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13492" y="4422648"/>
            <a:ext cx="438912" cy="4114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9212" y="4495800"/>
            <a:ext cx="2596896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250" b="1">
                <a:solidFill>
                  <a:srgbClr val="F2FAFF"/>
                </a:solidFill>
                <a:latin typeface="Microsoft YaHei"/>
              </a:defRPr>
            </a:pPr>
            <a:r>
              <a:rPr dirty="0"/>
              <a:t>IP </a:t>
            </a:r>
            <a:r>
              <a:rPr dirty="0" err="1"/>
              <a:t>管理能力</a:t>
            </a:r>
            <a:endParaRPr dirty="0"/>
          </a:p>
        </p:txBody>
      </p:sp>
      <p:sp>
        <p:nvSpPr>
          <p:cNvPr id="56" name="Rectangle 55"/>
          <p:cNvSpPr/>
          <p:nvPr/>
        </p:nvSpPr>
        <p:spPr>
          <a:xfrm>
            <a:off x="486644" y="4888992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3804" y="4815840"/>
            <a:ext cx="2404872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19" b="0">
                <a:solidFill>
                  <a:srgbClr val="DAE7F0"/>
                </a:solidFill>
                <a:latin typeface="Microsoft YaHei"/>
              </a:defRPr>
            </a:pPr>
            <a:r>
              <a:t>来源识别：XFF / X-Real-IP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6644" y="5199888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3804" y="5126736"/>
            <a:ext cx="2404872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19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连接绑定：ClientIP</a:t>
            </a:r>
            <a:r>
              <a:rPr dirty="0"/>
              <a:t> </a:t>
            </a:r>
            <a:r>
              <a:rPr dirty="0" err="1"/>
              <a:t>写入上下文</a:t>
            </a:r>
            <a:endParaRPr dirty="0"/>
          </a:p>
        </p:txBody>
      </p:sp>
      <p:sp>
        <p:nvSpPr>
          <p:cNvPr id="60" name="Rectangle 59"/>
          <p:cNvSpPr/>
          <p:nvPr/>
        </p:nvSpPr>
        <p:spPr>
          <a:xfrm>
            <a:off x="486644" y="5510784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3804" y="5437632"/>
            <a:ext cx="2404872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19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规则命中：黑名单优先拦截</a:t>
            </a:r>
            <a:endParaRPr dirty="0"/>
          </a:p>
        </p:txBody>
      </p:sp>
      <p:sp>
        <p:nvSpPr>
          <p:cNvPr id="62" name="Rectangle 61"/>
          <p:cNvSpPr/>
          <p:nvPr/>
        </p:nvSpPr>
        <p:spPr>
          <a:xfrm>
            <a:off x="486644" y="5821679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3804" y="5748527"/>
            <a:ext cx="2404872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19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主动断连：按</a:t>
            </a:r>
            <a:r>
              <a:rPr dirty="0"/>
              <a:t> IP </a:t>
            </a:r>
            <a:r>
              <a:rPr dirty="0" err="1"/>
              <a:t>清理连接</a:t>
            </a:r>
            <a:endParaRPr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9661F9-D8B2-D62B-DC7C-C3F328A36A43}"/>
              </a:ext>
            </a:extLst>
          </p:cNvPr>
          <p:cNvSpPr txBox="1"/>
          <p:nvPr/>
        </p:nvSpPr>
        <p:spPr>
          <a:xfrm>
            <a:off x="303764" y="1270655"/>
            <a:ext cx="6123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管理方式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21D5271-6E03-D9BE-8FCC-2BFDBC21180E}"/>
              </a:ext>
            </a:extLst>
          </p:cNvPr>
          <p:cNvSpPr/>
          <p:nvPr/>
        </p:nvSpPr>
        <p:spPr>
          <a:xfrm>
            <a:off x="381000" y="1703400"/>
            <a:ext cx="1447800" cy="272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1.</a:t>
            </a:r>
            <a:r>
              <a:rPr lang="zh-CN" altLang="en-US" dirty="0"/>
              <a:t> 在线提示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F33473-8D7D-0918-BB73-265B111D5AA8}"/>
              </a:ext>
            </a:extLst>
          </p:cNvPr>
          <p:cNvSpPr txBox="1"/>
          <p:nvPr/>
        </p:nvSpPr>
        <p:spPr>
          <a:xfrm>
            <a:off x="397164" y="2085924"/>
            <a:ext cx="175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</a:rPr>
              <a:t>直观的在线视觉效果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180575D-30EE-1517-A16B-5F9EEF42EBBF}"/>
              </a:ext>
            </a:extLst>
          </p:cNvPr>
          <p:cNvSpPr/>
          <p:nvPr/>
        </p:nvSpPr>
        <p:spPr>
          <a:xfrm>
            <a:off x="368234" y="2472501"/>
            <a:ext cx="1447800" cy="3209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2.</a:t>
            </a:r>
            <a:r>
              <a:rPr lang="zh-CN" altLang="en-US" dirty="0"/>
              <a:t>连接控制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3851002-4B88-7415-636C-82EE76D769D9}"/>
              </a:ext>
            </a:extLst>
          </p:cNvPr>
          <p:cNvSpPr txBox="1"/>
          <p:nvPr/>
        </p:nvSpPr>
        <p:spPr>
          <a:xfrm>
            <a:off x="317619" y="2971800"/>
            <a:ext cx="14984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</a:rPr>
              <a:t>封禁任何用户，断开任何连接。易操作</a:t>
            </a:r>
          </a:p>
        </p:txBody>
      </p:sp>
    </p:spTree>
    <p:extLst>
      <p:ext uri="{BB962C8B-B14F-4D97-AF65-F5344CB8AC3E}">
        <p14:creationId xmlns:p14="http://schemas.microsoft.com/office/powerpoint/2010/main" val="238402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15E983-0804-BB88-FF75-F50F87CF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2A24D7-5DF9-BAE9-2F77-3C56A282060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19A53003-C56C-182E-8FA7-5DC4FEB262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8CA76F8-8314-49FD-CA68-F0CD322CF04C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17AFBECF-4ACC-98FE-D1E5-D1639735A1E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2BF5E5DC-5A25-FE89-8F70-943C441156A8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square" lIns="18288" tIns="18288" rIns="18288" bIns="18288" rtlCol="0" anchor="t">
            <a:normAutofit fontScale="92500" lnSpcReduction="10000"/>
          </a:bodyPr>
          <a:lstStyle/>
          <a:p>
            <a:pPr marL="0" indent="0" algn="l">
              <a:spcAft>
                <a:spcPts val="400"/>
              </a:spcAft>
              <a:buNone/>
              <a:defRPr sz="2600" b="1">
                <a:solidFill>
                  <a:srgbClr val="F2FAFF"/>
                </a:solidFill>
                <a:latin typeface="Microsoft YaHei"/>
              </a:defRPr>
            </a:pPr>
            <a:r>
              <a:t>二. 用户流量统计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C94E16-0C9D-CB0A-AF02-C5EAD58C1FD7}"/>
              </a:ext>
            </a:extLst>
          </p:cNvPr>
          <p:cNvSpPr/>
          <p:nvPr/>
        </p:nvSpPr>
        <p:spPr>
          <a:xfrm>
            <a:off x="3963010" y="1123657"/>
            <a:ext cx="8113166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Rounded Rectangle 52"/>
          <p:cNvSpPr/>
          <p:nvPr/>
        </p:nvSpPr>
        <p:spPr>
          <a:xfrm>
            <a:off x="317619" y="4205892"/>
            <a:ext cx="2907792" cy="1874519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1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27347" y="4315620"/>
            <a:ext cx="438912" cy="4114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3067" y="4388772"/>
            <a:ext cx="2596896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250" b="1">
                <a:solidFill>
                  <a:srgbClr val="F2FAFF"/>
                </a:solidFill>
                <a:latin typeface="Microsoft YaHei"/>
              </a:defRPr>
            </a:pPr>
            <a:r>
              <a:rPr dirty="0" err="1"/>
              <a:t>统计口径</a:t>
            </a:r>
            <a:endParaRPr dirty="0"/>
          </a:p>
        </p:txBody>
      </p:sp>
      <p:sp>
        <p:nvSpPr>
          <p:cNvPr id="56" name="Rectangle 55"/>
          <p:cNvSpPr/>
          <p:nvPr/>
        </p:nvSpPr>
        <p:spPr>
          <a:xfrm>
            <a:off x="500499" y="4781964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7659" y="4708812"/>
            <a:ext cx="2404872" cy="30777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维度：ClientIP</a:t>
            </a:r>
            <a:r>
              <a:rPr dirty="0"/>
              <a:t> + </a:t>
            </a:r>
            <a:r>
              <a:rPr lang="en-US" dirty="0"/>
              <a:t>Host</a:t>
            </a:r>
          </a:p>
          <a:p>
            <a:pPr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rPr lang="en-US" altLang="zh-CN" dirty="0" err="1"/>
              <a:t>ClientIP</a:t>
            </a:r>
            <a:r>
              <a:rPr lang="zh-CN" altLang="en-US" dirty="0"/>
              <a:t>用户总流量 </a:t>
            </a:r>
            <a:r>
              <a:rPr lang="en-US" altLang="zh-CN" dirty="0"/>
              <a:t>+</a:t>
            </a:r>
            <a:r>
              <a:rPr lang="zh-CN" altLang="en-US" dirty="0"/>
              <a:t>单个</a:t>
            </a:r>
            <a:r>
              <a:rPr lang="en-US" altLang="zh-CN" dirty="0"/>
              <a:t>Host</a:t>
            </a:r>
            <a:r>
              <a:rPr lang="zh-CN" altLang="en-US" dirty="0"/>
              <a:t>访问流量统计</a:t>
            </a:r>
            <a:endParaRPr dirty="0"/>
          </a:p>
        </p:txBody>
      </p:sp>
      <p:sp>
        <p:nvSpPr>
          <p:cNvPr id="58" name="Rectangle 57"/>
          <p:cNvSpPr/>
          <p:nvPr/>
        </p:nvSpPr>
        <p:spPr>
          <a:xfrm>
            <a:off x="490986" y="5257452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8146" y="5184300"/>
            <a:ext cx="2404872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指标：上行、下行、总字节</a:t>
            </a:r>
            <a:endParaRPr dirty="0"/>
          </a:p>
        </p:txBody>
      </p:sp>
      <p:sp>
        <p:nvSpPr>
          <p:cNvPr id="60" name="Rectangle 59"/>
          <p:cNvSpPr/>
          <p:nvPr/>
        </p:nvSpPr>
        <p:spPr>
          <a:xfrm>
            <a:off x="490986" y="5568348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8146" y="5495196"/>
            <a:ext cx="2404872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触发：读写阶段实时累计</a:t>
            </a:r>
            <a:endParaRPr dirty="0"/>
          </a:p>
        </p:txBody>
      </p:sp>
      <p:sp>
        <p:nvSpPr>
          <p:cNvPr id="62" name="Rectangle 61"/>
          <p:cNvSpPr/>
          <p:nvPr/>
        </p:nvSpPr>
        <p:spPr>
          <a:xfrm>
            <a:off x="490986" y="5879243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8146" y="5806091"/>
            <a:ext cx="2404872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4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推送：定时快照给控制台</a:t>
            </a:r>
            <a:endParaRPr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62253D-A62D-7A2E-3B0D-2E64D60AB2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023" y="1819656"/>
            <a:ext cx="7639050" cy="46577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5FC3E32-D0AD-82A9-5564-1A03DF43383C}"/>
              </a:ext>
            </a:extLst>
          </p:cNvPr>
          <p:cNvSpPr txBox="1"/>
          <p:nvPr/>
        </p:nvSpPr>
        <p:spPr>
          <a:xfrm>
            <a:off x="317619" y="1345517"/>
            <a:ext cx="1358781" cy="36933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多维度统计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4AFC372-1DFE-4D95-3F1E-73D8E937822F}"/>
              </a:ext>
            </a:extLst>
          </p:cNvPr>
          <p:cNvSpPr/>
          <p:nvPr/>
        </p:nvSpPr>
        <p:spPr>
          <a:xfrm>
            <a:off x="317619" y="1958688"/>
            <a:ext cx="1206381" cy="272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维度一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C1E4438-3D7E-7508-DC96-2CE5A9D21441}"/>
              </a:ext>
            </a:extLst>
          </p:cNvPr>
          <p:cNvSpPr txBox="1"/>
          <p:nvPr/>
        </p:nvSpPr>
        <p:spPr>
          <a:xfrm>
            <a:off x="319928" y="2341212"/>
            <a:ext cx="2270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根据</a:t>
            </a:r>
            <a:r>
              <a:rPr lang="en-US" altLang="zh-CN" sz="1600" dirty="0" err="1">
                <a:solidFill>
                  <a:schemeClr val="bg1"/>
                </a:solidFill>
              </a:rPr>
              <a:t>ClientIP</a:t>
            </a: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zh-CN" altLang="en-US" sz="1600" dirty="0">
                <a:solidFill>
                  <a:schemeClr val="bg1"/>
                </a:solidFill>
              </a:rPr>
              <a:t>统计用户总流量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D8B21FF-A211-9DAC-A15E-CB01A2F72A69}"/>
              </a:ext>
            </a:extLst>
          </p:cNvPr>
          <p:cNvSpPr/>
          <p:nvPr/>
        </p:nvSpPr>
        <p:spPr>
          <a:xfrm>
            <a:off x="335927" y="3081181"/>
            <a:ext cx="1206381" cy="2727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维度二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33DE96-7790-3894-4417-C89A5A96E305}"/>
              </a:ext>
            </a:extLst>
          </p:cNvPr>
          <p:cNvSpPr txBox="1"/>
          <p:nvPr/>
        </p:nvSpPr>
        <p:spPr>
          <a:xfrm>
            <a:off x="317619" y="3437186"/>
            <a:ext cx="1968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根据每个目标</a:t>
            </a:r>
            <a:r>
              <a:rPr lang="en-US" altLang="zh-CN" sz="1600" dirty="0">
                <a:solidFill>
                  <a:schemeClr val="bg1"/>
                </a:solidFill>
              </a:rPr>
              <a:t>host</a:t>
            </a:r>
            <a:r>
              <a:rPr lang="zh-CN" altLang="en-US" sz="1600" dirty="0">
                <a:solidFill>
                  <a:schemeClr val="bg1"/>
                </a:solidFill>
              </a:rPr>
              <a:t>进一步细分流量</a:t>
            </a:r>
          </a:p>
        </p:txBody>
      </p:sp>
    </p:spTree>
    <p:extLst>
      <p:ext uri="{BB962C8B-B14F-4D97-AF65-F5344CB8AC3E}">
        <p14:creationId xmlns:p14="http://schemas.microsoft.com/office/powerpoint/2010/main" val="2742584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57593-27E9-FEDB-F9A7-29BAB3C2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F969B8-6C00-4E9B-AA8D-618B459AD8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466F8359-05A8-CD90-DBE2-9ED7CE0976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E642F0D-E8BF-FB09-F810-C7B5C13B381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F4D9E25C-CE1B-7CD5-C7AF-B51444DAD5E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5A8731D4-5585-129D-65B2-2EA3A5FE29AE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一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普通路由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048868-7D4D-7C21-691B-CFA20F02DDDD}"/>
              </a:ext>
            </a:extLst>
          </p:cNvPr>
          <p:cNvSpPr/>
          <p:nvPr/>
        </p:nvSpPr>
        <p:spPr>
          <a:xfrm>
            <a:off x="3596183" y="1111706"/>
            <a:ext cx="8567099" cy="5505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7344BB-25E2-8137-4733-DBD4DE87F40C}"/>
              </a:ext>
            </a:extLst>
          </p:cNvPr>
          <p:cNvSpPr txBox="1"/>
          <p:nvPr/>
        </p:nvSpPr>
        <p:spPr>
          <a:xfrm>
            <a:off x="381000" y="1782972"/>
            <a:ext cx="2438400" cy="1719445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spAutoFit/>
          </a:bodyPr>
          <a:lstStyle/>
          <a:p>
            <a:pPr algn="l">
              <a:spcAft>
                <a:spcPts val="400"/>
              </a:spcAft>
              <a:buNone/>
              <a:defRPr sz="2000" b="0">
                <a:solidFill>
                  <a:srgbClr val="F2FAFF"/>
                </a:solidFill>
                <a:latin typeface="Microsoft YaHei"/>
              </a:defRPr>
            </a:pPr>
            <a:r>
              <a:rPr sz="1200" dirty="0" err="1"/>
              <a:t>通过</a:t>
            </a:r>
            <a:r>
              <a:rPr lang="en-US" altLang="zh-CN" sz="1200" dirty="0" err="1"/>
              <a:t>transport</a:t>
            </a:r>
            <a:r>
              <a:rPr sz="1200" dirty="0" err="1"/>
              <a:t>连接池复用出站通道</a:t>
            </a:r>
            <a:r>
              <a:rPr lang="zh-CN" altLang="en-US" sz="1200" dirty="0"/>
              <a:t>，为每个目标维护单独连接池</a:t>
            </a:r>
            <a:r>
              <a:rPr sz="1200" dirty="0"/>
              <a:t>，</a:t>
            </a:r>
            <a:r>
              <a:rPr sz="1200" dirty="0" err="1"/>
              <a:t>减少重复建连开销，</a:t>
            </a:r>
            <a:r>
              <a:rPr sz="1200" b="1" dirty="0" err="1"/>
              <a:t>提升</a:t>
            </a:r>
            <a:r>
              <a:rPr sz="1200" dirty="0" err="1"/>
              <a:t>普通代理</a:t>
            </a:r>
            <a:r>
              <a:rPr sz="1200" b="1" dirty="0" err="1"/>
              <a:t>转发效率</a:t>
            </a:r>
            <a:r>
              <a:rPr sz="1200" dirty="0"/>
              <a:t>。</a:t>
            </a:r>
            <a:endParaRPr lang="en-US" sz="1200" dirty="0"/>
          </a:p>
          <a:p>
            <a:pPr algn="l">
              <a:spcAft>
                <a:spcPts val="400"/>
              </a:spcAft>
              <a:buNone/>
              <a:defRPr sz="2000" b="0">
                <a:solidFill>
                  <a:srgbClr val="F2FAFF"/>
                </a:solidFill>
                <a:latin typeface="Microsoft YaHei"/>
              </a:defRPr>
            </a:pPr>
            <a:endParaRPr lang="en-US" sz="1200" dirty="0"/>
          </a:p>
          <a:p>
            <a:pPr>
              <a:spcAft>
                <a:spcPts val="400"/>
              </a:spcAft>
              <a:defRPr sz="2000" b="0">
                <a:solidFill>
                  <a:srgbClr val="F2FAFF"/>
                </a:solidFill>
                <a:latin typeface="Microsoft YaHei"/>
              </a:defRPr>
            </a:pPr>
            <a:r>
              <a:rPr lang="zh-CN" altLang="en-US" sz="1200" b="1" dirty="0">
                <a:solidFill>
                  <a:srgbClr val="F2FAFF"/>
                </a:solidFill>
                <a:latin typeface="Microsoft YaHei"/>
              </a:rPr>
              <a:t>优势：</a:t>
            </a:r>
            <a:r>
              <a:rPr lang="zh-CN" altLang="en-US" sz="1200" dirty="0">
                <a:solidFill>
                  <a:srgbClr val="F2FAFF"/>
                </a:solidFill>
                <a:latin typeface="Microsoft YaHei"/>
              </a:rPr>
              <a:t>连接复用对短连接友好</a:t>
            </a:r>
            <a:endParaRPr lang="en-US" altLang="zh-CN" sz="1200" dirty="0">
              <a:solidFill>
                <a:srgbClr val="F2FAFF"/>
              </a:solidFill>
              <a:latin typeface="Microsoft YaHei"/>
            </a:endParaRPr>
          </a:p>
          <a:p>
            <a:pPr>
              <a:spcAft>
                <a:spcPts val="400"/>
              </a:spcAft>
              <a:defRPr sz="2000" b="0">
                <a:solidFill>
                  <a:srgbClr val="F2FAFF"/>
                </a:solidFill>
                <a:latin typeface="Microsoft YaHei"/>
              </a:defRPr>
            </a:pPr>
            <a:endParaRPr lang="zh-CN" altLang="en-US" sz="1200" dirty="0"/>
          </a:p>
          <a:p>
            <a:pPr>
              <a:spcAft>
                <a:spcPts val="400"/>
              </a:spcAft>
              <a:defRPr sz="2000" b="0">
                <a:solidFill>
                  <a:srgbClr val="F2FAFF"/>
                </a:solidFill>
                <a:latin typeface="Microsoft YaHei"/>
              </a:defRPr>
            </a:pPr>
            <a:r>
              <a:rPr lang="zh-CN" altLang="en-US" sz="1200" b="1" dirty="0">
                <a:solidFill>
                  <a:srgbClr val="F2FAFF"/>
                </a:solidFill>
                <a:latin typeface="Microsoft YaHei"/>
              </a:rPr>
              <a:t>劣势</a:t>
            </a:r>
            <a:r>
              <a:rPr lang="zh-CN" altLang="en-US" sz="1200" dirty="0">
                <a:solidFill>
                  <a:srgbClr val="F2FAFF"/>
                </a:solidFill>
                <a:latin typeface="Microsoft YaHei"/>
              </a:rPr>
              <a:t>：存在应用层开销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BCF7DD-0A14-E3C0-EAAF-BBAE3EE72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3100" y="1463286"/>
            <a:ext cx="8472242" cy="4824701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295656" y="4200789"/>
            <a:ext cx="2761488" cy="1417320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1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05384" y="4310517"/>
            <a:ext cx="438912" cy="4114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51104" y="4383669"/>
            <a:ext cx="2450592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250" b="1">
                <a:solidFill>
                  <a:srgbClr val="F2FAFF"/>
                </a:solidFill>
                <a:latin typeface="Microsoft YaHei"/>
              </a:defRPr>
            </a:pPr>
            <a:r>
              <a:t>普通路由要点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8536" y="4776861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15696" y="4703709"/>
            <a:ext cx="2258568" cy="166199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完成通道选择</a:t>
            </a:r>
            <a:endParaRPr dirty="0"/>
          </a:p>
        </p:txBody>
      </p:sp>
      <p:sp>
        <p:nvSpPr>
          <p:cNvPr id="58" name="Rectangle 57"/>
          <p:cNvSpPr/>
          <p:nvPr/>
        </p:nvSpPr>
        <p:spPr>
          <a:xfrm>
            <a:off x="478536" y="5087757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5696" y="5014605"/>
            <a:ext cx="225856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连接池复用已绑定出站</a:t>
            </a:r>
            <a:endParaRPr dirty="0"/>
          </a:p>
        </p:txBody>
      </p:sp>
      <p:sp>
        <p:nvSpPr>
          <p:cNvPr id="60" name="Rectangle 59"/>
          <p:cNvSpPr/>
          <p:nvPr/>
        </p:nvSpPr>
        <p:spPr>
          <a:xfrm>
            <a:off x="478536" y="5398652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15696" y="5325500"/>
            <a:ext cx="225856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rPr dirty="0" err="1"/>
              <a:t>后续请求直接沿通道转发</a:t>
            </a:r>
            <a:endParaRPr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C88CC9-1099-619E-E447-371BC90B3061}"/>
              </a:ext>
            </a:extLst>
          </p:cNvPr>
          <p:cNvSpPr txBox="1"/>
          <p:nvPr/>
        </p:nvSpPr>
        <p:spPr>
          <a:xfrm>
            <a:off x="317619" y="1170071"/>
            <a:ext cx="1358781" cy="36933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连接池机制</a:t>
            </a:r>
          </a:p>
        </p:txBody>
      </p:sp>
    </p:spTree>
    <p:extLst>
      <p:ext uri="{BB962C8B-B14F-4D97-AF65-F5344CB8AC3E}">
        <p14:creationId xmlns:p14="http://schemas.microsoft.com/office/powerpoint/2010/main" val="3643610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A24B0-3B9D-4722-D2F0-FE6889FD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D96B0B-003E-0555-0DDE-F24B7899EA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EC84A0A1-E72D-8325-8576-A4A35A52D3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0D15CD8-B984-73AB-F366-9F49CB0D2700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E595344E-28DE-AE88-BDF5-3F4E65B4789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52" name="Text 1">
            <a:extLst>
              <a:ext uri="{FF2B5EF4-FFF2-40B4-BE49-F238E27FC236}">
                <a16:creationId xmlns:a16="http://schemas.microsoft.com/office/drawing/2014/main" id="{4837FD5E-D504-8505-9E09-F09AA833F55D}"/>
              </a:ext>
            </a:extLst>
          </p:cNvPr>
          <p:cNvSpPr/>
          <p:nvPr/>
        </p:nvSpPr>
        <p:spPr>
          <a:xfrm>
            <a:off x="317619" y="786023"/>
            <a:ext cx="3327772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二</a:t>
            </a:r>
            <a:r>
              <a:rPr lang="en-US" altLang="zh-CN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.  </a:t>
            </a:r>
            <a:r>
              <a:rPr lang="zh-CN" altLang="en-US" b="1" dirty="0">
                <a:solidFill>
                  <a:srgbClr val="E0F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隧道路由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087DFF-F096-E109-AE5F-3385F053744E}"/>
              </a:ext>
            </a:extLst>
          </p:cNvPr>
          <p:cNvSpPr/>
          <p:nvPr/>
        </p:nvSpPr>
        <p:spPr>
          <a:xfrm>
            <a:off x="3380509" y="1104859"/>
            <a:ext cx="8810483" cy="5505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A0C020-2C26-4F7D-19DE-35C63B100822}"/>
              </a:ext>
            </a:extLst>
          </p:cNvPr>
          <p:cNvSpPr txBox="1"/>
          <p:nvPr/>
        </p:nvSpPr>
        <p:spPr>
          <a:xfrm>
            <a:off x="317619" y="1982544"/>
            <a:ext cx="2438400" cy="2242665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spAutoFit/>
          </a:bodyPr>
          <a:lstStyle/>
          <a:p>
            <a:pPr algn="l">
              <a:spcAft>
                <a:spcPts val="400"/>
              </a:spcAft>
              <a:buNone/>
              <a:defRPr sz="2000" b="0">
                <a:solidFill>
                  <a:srgbClr val="F2FAFF"/>
                </a:solidFill>
                <a:latin typeface="Microsoft YaHei"/>
              </a:defRPr>
            </a:pPr>
            <a:r>
              <a:rPr lang="zh-CN" altLang="en-US" sz="1400" dirty="0"/>
              <a:t>建立</a:t>
            </a:r>
            <a:r>
              <a:rPr sz="1400" dirty="0" err="1"/>
              <a:t>二级隧道继续透传，连接建立后只负责两端字节转发</a:t>
            </a:r>
            <a:r>
              <a:rPr dirty="0"/>
              <a:t>。</a:t>
            </a:r>
            <a:endParaRPr lang="en-US" dirty="0"/>
          </a:p>
          <a:p>
            <a:pPr algn="l">
              <a:spcAft>
                <a:spcPts val="400"/>
              </a:spcAft>
              <a:buNone/>
              <a:defRPr sz="2000" b="0">
                <a:solidFill>
                  <a:srgbClr val="F2FAFF"/>
                </a:solidFill>
                <a:latin typeface="Microsoft YaHei"/>
              </a:defRPr>
            </a:pPr>
            <a:endParaRPr lang="en-US" dirty="0"/>
          </a:p>
          <a:p>
            <a:pPr algn="l">
              <a:spcAft>
                <a:spcPts val="400"/>
              </a:spcAft>
              <a:buNone/>
              <a:defRPr sz="2000" b="0">
                <a:solidFill>
                  <a:srgbClr val="F2FAFF"/>
                </a:solidFill>
                <a:latin typeface="Microsoft YaHei"/>
              </a:defRPr>
            </a:pPr>
            <a:r>
              <a:rPr lang="zh-CN" altLang="en-US" sz="1400" b="1" dirty="0">
                <a:solidFill>
                  <a:srgbClr val="F2FAFF"/>
                </a:solidFill>
                <a:latin typeface="Microsoft YaHei"/>
              </a:rPr>
              <a:t>优势：</a:t>
            </a:r>
            <a:r>
              <a:rPr lang="zh-CN" altLang="en-US" sz="1400" dirty="0">
                <a:solidFill>
                  <a:srgbClr val="F2FAFF"/>
                </a:solidFill>
                <a:latin typeface="Microsoft YaHei"/>
              </a:rPr>
              <a:t>没有应用层开销，适合长时间流式传输</a:t>
            </a:r>
            <a:endParaRPr lang="en-US" altLang="zh-CN" sz="1400" dirty="0">
              <a:solidFill>
                <a:srgbClr val="F2FAFF"/>
              </a:solidFill>
              <a:latin typeface="Microsoft YaHei"/>
            </a:endParaRPr>
          </a:p>
          <a:p>
            <a:pPr algn="l">
              <a:spcAft>
                <a:spcPts val="400"/>
              </a:spcAft>
              <a:buNone/>
              <a:defRPr sz="2000" b="0">
                <a:solidFill>
                  <a:srgbClr val="F2FAFF"/>
                </a:solidFill>
                <a:latin typeface="Microsoft YaHei"/>
              </a:defRPr>
            </a:pPr>
            <a:endParaRPr lang="en-US" dirty="0"/>
          </a:p>
          <a:p>
            <a:pPr>
              <a:spcAft>
                <a:spcPts val="400"/>
              </a:spcAft>
              <a:defRPr sz="2000" b="0">
                <a:solidFill>
                  <a:srgbClr val="F2FAFF"/>
                </a:solidFill>
                <a:latin typeface="Microsoft YaHei"/>
              </a:defRPr>
            </a:pPr>
            <a:r>
              <a:rPr lang="zh-CN" altLang="en-US" sz="1400" b="1" dirty="0">
                <a:solidFill>
                  <a:srgbClr val="F2FAFF"/>
                </a:solidFill>
                <a:latin typeface="Microsoft YaHei"/>
              </a:rPr>
              <a:t>劣势</a:t>
            </a:r>
            <a:r>
              <a:rPr lang="zh-CN" altLang="en-US" sz="1400" dirty="0">
                <a:solidFill>
                  <a:srgbClr val="F2FAFF"/>
                </a:solidFill>
                <a:latin typeface="Microsoft YaHei"/>
              </a:rPr>
              <a:t>：频繁请求因为没有连接池复用会导致开销增加</a:t>
            </a:r>
            <a:endParaRPr sz="1400" dirty="0">
              <a:solidFill>
                <a:srgbClr val="F2FAFF"/>
              </a:solidFill>
              <a:latin typeface="Microsoft YaHei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54B2AB-1888-DE62-AF6A-5F24EABAEA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946" y="1296687"/>
            <a:ext cx="8575608" cy="4814677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234789" y="4666612"/>
            <a:ext cx="2761488" cy="1444752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FFB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44517" y="4776340"/>
            <a:ext cx="438912" cy="41148"/>
          </a:xfrm>
          <a:prstGeom prst="rect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0237" y="4849492"/>
            <a:ext cx="2450592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250" b="1">
                <a:solidFill>
                  <a:srgbClr val="F2FAFF"/>
                </a:solidFill>
                <a:latin typeface="Microsoft YaHei"/>
              </a:defRPr>
            </a:pPr>
            <a:r>
              <a:t>隧道路由要点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669" y="5242684"/>
            <a:ext cx="64008" cy="64008"/>
          </a:xfrm>
          <a:prstGeom prst="rect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54829" y="5169532"/>
            <a:ext cx="225856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t>建连前完成域名/IP 判断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7669" y="5553580"/>
            <a:ext cx="64008" cy="64008"/>
          </a:xfrm>
          <a:prstGeom prst="rect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54829" y="5480428"/>
            <a:ext cx="225856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t>建立后不再解析业务内容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7669" y="5864476"/>
            <a:ext cx="64008" cy="64008"/>
          </a:xfrm>
          <a:prstGeom prst="rect">
            <a:avLst/>
          </a:prstGeom>
          <a:solidFill>
            <a:srgbClr val="FFB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54829" y="5791323"/>
            <a:ext cx="225856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t>适合 HTTPS CONNECT 场景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2749AF-FCFB-6CF2-41AA-799F76BC9AFB}"/>
              </a:ext>
            </a:extLst>
          </p:cNvPr>
          <p:cNvSpPr txBox="1"/>
          <p:nvPr/>
        </p:nvSpPr>
        <p:spPr>
          <a:xfrm>
            <a:off x="317619" y="1170071"/>
            <a:ext cx="1358781" cy="36933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隧道机制</a:t>
            </a:r>
          </a:p>
        </p:txBody>
      </p:sp>
    </p:spTree>
    <p:extLst>
      <p:ext uri="{BB962C8B-B14F-4D97-AF65-F5344CB8AC3E}">
        <p14:creationId xmlns:p14="http://schemas.microsoft.com/office/powerpoint/2010/main" val="3427047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22AB5-07D8-A3CE-5F0B-77B2E820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498BCE-2DF0-FC63-69BD-197EA994EF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C9E2A802-506B-E752-ACA4-C802EF68E4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33A104D-1755-F287-A431-9F427F4845E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日志管理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AB946E20-592F-343F-BE88-BE7894B179B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D372761-1956-D200-5573-B0D16E4DB133}"/>
              </a:ext>
            </a:extLst>
          </p:cNvPr>
          <p:cNvSpPr/>
          <p:nvPr/>
        </p:nvSpPr>
        <p:spPr>
          <a:xfrm>
            <a:off x="3352800" y="1123657"/>
            <a:ext cx="8723376" cy="5750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1B2745-AFFC-DCEF-A712-F6BEDF2FA830}"/>
              </a:ext>
            </a:extLst>
          </p:cNvPr>
          <p:cNvSpPr txBox="1"/>
          <p:nvPr/>
        </p:nvSpPr>
        <p:spPr>
          <a:xfrm>
            <a:off x="397624" y="1509549"/>
            <a:ext cx="2529471" cy="252377"/>
          </a:xfrm>
          <a:prstGeom prst="rect">
            <a:avLst/>
          </a:prstGeom>
          <a:noFill/>
        </p:spPr>
        <p:txBody>
          <a:bodyPr wrap="square" lIns="18288" tIns="18288" rIns="18288" bIns="18288" rtlCol="0" anchor="t">
            <a:spAutoFit/>
          </a:bodyPr>
          <a:lstStyle/>
          <a:p>
            <a:pPr algn="l">
              <a:spcAft>
                <a:spcPts val="400"/>
              </a:spcAft>
              <a:buNone/>
              <a:defRPr sz="2000" b="0">
                <a:solidFill>
                  <a:srgbClr val="F2FAFF"/>
                </a:solidFill>
                <a:latin typeface="Microsoft YaHei"/>
              </a:defRPr>
            </a:pPr>
            <a:r>
              <a:rPr sz="1400" dirty="0" err="1"/>
              <a:t>结构化收集访问</a:t>
            </a:r>
            <a:r>
              <a:rPr lang="zh-CN" altLang="en-US" sz="1400" dirty="0"/>
              <a:t>，按关键词分类</a:t>
            </a:r>
            <a:endParaRPr lang="en-US" sz="1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507EA1-22E5-7241-73E7-2073A70E6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0508" y="1347049"/>
            <a:ext cx="8612221" cy="487680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321056" y="3694176"/>
            <a:ext cx="2761488" cy="1481328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1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0784" y="3803904"/>
            <a:ext cx="438912" cy="4114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6504" y="3877056"/>
            <a:ext cx="2450592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250" b="1">
                <a:solidFill>
                  <a:srgbClr val="F2FAFF"/>
                </a:solidFill>
                <a:latin typeface="Microsoft YaHei"/>
              </a:defRPr>
            </a:pPr>
            <a:r>
              <a:t>日志链路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3936" y="4270248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1096" y="4197096"/>
            <a:ext cx="225856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t>统一入口：收敛业务日志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3936" y="4581144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1096" y="4507992"/>
            <a:ext cx="225856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t>解析分类：级别、会话、正文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3936" y="4892040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41096" y="4818888"/>
            <a:ext cx="2258568" cy="2834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960" b="0">
                <a:solidFill>
                  <a:srgbClr val="DAE7F0"/>
                </a:solidFill>
                <a:latin typeface="Microsoft YaHei"/>
              </a:defRPr>
            </a:pPr>
            <a:r>
              <a:t>批量推送：降低刷新压力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AB7D6F-0A0B-FB3B-A6D8-D4F64F122BB9}"/>
              </a:ext>
            </a:extLst>
          </p:cNvPr>
          <p:cNvSpPr txBox="1"/>
          <p:nvPr/>
        </p:nvSpPr>
        <p:spPr>
          <a:xfrm>
            <a:off x="391714" y="954297"/>
            <a:ext cx="1358781" cy="36933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日志分类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C4E070E-F9E2-0A62-05B3-BC682F73F586}"/>
              </a:ext>
            </a:extLst>
          </p:cNvPr>
          <p:cNvSpPr txBox="1"/>
          <p:nvPr/>
        </p:nvSpPr>
        <p:spPr>
          <a:xfrm>
            <a:off x="411599" y="2201480"/>
            <a:ext cx="1358781" cy="369332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日志推送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C8E701-ED65-0AFA-93BD-CD03E6461491}"/>
              </a:ext>
            </a:extLst>
          </p:cNvPr>
          <p:cNvSpPr txBox="1"/>
          <p:nvPr/>
        </p:nvSpPr>
        <p:spPr>
          <a:xfrm>
            <a:off x="391714" y="2743200"/>
            <a:ext cx="2046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F2FAFF"/>
                </a:solidFill>
                <a:latin typeface="Microsoft YaHei"/>
              </a:defRPr>
            </a:pPr>
            <a:r>
              <a:rPr lang="zh-CN" altLang="en-US" sz="1400" dirty="0">
                <a:solidFill>
                  <a:srgbClr val="F2FAFF"/>
                </a:solidFill>
                <a:latin typeface="Microsoft YaHei"/>
              </a:rPr>
              <a:t>批量推送，定时刷新</a:t>
            </a:r>
          </a:p>
        </p:txBody>
      </p:sp>
    </p:spTree>
    <p:extLst>
      <p:ext uri="{BB962C8B-B14F-4D97-AF65-F5344CB8AC3E}">
        <p14:creationId xmlns:p14="http://schemas.microsoft.com/office/powerpoint/2010/main" val="39123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65E80-3F98-DE88-4FBD-139C70802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BFFA48-BB71-FA31-DD77-31EBC74FDC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>
            <a:extLst>
              <a:ext uri="{FF2B5EF4-FFF2-40B4-BE49-F238E27FC236}">
                <a16:creationId xmlns:a16="http://schemas.microsoft.com/office/drawing/2014/main" id="{043EA787-E4F8-5190-FF57-ADEE19B8D4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186"/>
            <a:ext cx="12192000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59BE0B1-8DFD-E6AD-78BC-76E59DA02F4B}"/>
              </a:ext>
            </a:extLst>
          </p:cNvPr>
          <p:cNvSpPr/>
          <p:nvPr/>
        </p:nvSpPr>
        <p:spPr>
          <a:xfrm>
            <a:off x="381000" y="247650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高级设置</a:t>
            </a:r>
            <a:endParaRPr lang="en-US" sz="27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8ABCCB12-5322-8325-53D6-00FBBB78C8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17714" y="-8186"/>
            <a:ext cx="1232198" cy="1143480"/>
          </a:xfrm>
          <a:prstGeom prst="rect">
            <a:avLst/>
          </a:prstGeom>
          <a:noFill/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5534959-FD73-341D-95B0-E00AE0082DF6}"/>
              </a:ext>
            </a:extLst>
          </p:cNvPr>
          <p:cNvSpPr/>
          <p:nvPr/>
        </p:nvSpPr>
        <p:spPr>
          <a:xfrm>
            <a:off x="5638800" y="1123657"/>
            <a:ext cx="6437376" cy="1924343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D2777ED-2B82-6A10-5280-1B22DFF796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299" y="1278161"/>
            <a:ext cx="6106377" cy="1562318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338281" y="1081995"/>
            <a:ext cx="4800600" cy="2277814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1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64173" y="1274924"/>
            <a:ext cx="438912" cy="4114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9893" y="1348076"/>
            <a:ext cx="4489704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defRPr sz="1250" b="1">
                <a:solidFill>
                  <a:srgbClr val="F2FAFF"/>
                </a:solidFill>
                <a:latin typeface="Microsoft YaHei"/>
              </a:defRPr>
            </a:pPr>
            <a:r>
              <a:t>配置价值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7325" y="1741268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74485" y="1668116"/>
            <a:ext cx="4297680" cy="35997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defRPr sz="1019" b="0">
                <a:solidFill>
                  <a:srgbClr val="DAE7F0"/>
                </a:solidFill>
                <a:latin typeface="Microsoft YaHei"/>
              </a:defRPr>
            </a:pPr>
            <a:r>
              <a:rPr lang="zh-CN" altLang="en-US" sz="1200" dirty="0">
                <a:solidFill>
                  <a:schemeClr val="accent4"/>
                </a:solidFill>
              </a:rPr>
              <a:t>保留编码格式</a:t>
            </a:r>
            <a:r>
              <a:rPr sz="1200" dirty="0">
                <a:solidFill>
                  <a:schemeClr val="accent4"/>
                </a:solidFill>
              </a:rPr>
              <a:t>：</a:t>
            </a:r>
            <a:r>
              <a:rPr lang="zh-CN" altLang="en-US" dirty="0"/>
              <a:t>提升转发保真度，代理不主动解压响应。</a:t>
            </a:r>
            <a:endParaRPr lang="zh-CN" altLang="en-US" dirty="0">
              <a:solidFill>
                <a:schemeClr val="bg1"/>
              </a:solidFill>
            </a:endParaRPr>
          </a:p>
          <a:p>
            <a:pPr>
              <a:defRPr sz="1019" b="0">
                <a:solidFill>
                  <a:srgbClr val="DAE7F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55" name="Rectangle 54"/>
          <p:cNvSpPr/>
          <p:nvPr/>
        </p:nvSpPr>
        <p:spPr>
          <a:xfrm>
            <a:off x="537325" y="2108245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4485" y="2035093"/>
            <a:ext cx="4297680" cy="35997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defRPr sz="1019" b="0">
                <a:solidFill>
                  <a:srgbClr val="DAE7F0"/>
                </a:solidFill>
                <a:latin typeface="Microsoft YaHei"/>
              </a:defRPr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Microsoft YaHei"/>
              </a:rPr>
              <a:t>禁止解析 </a:t>
            </a:r>
            <a:r>
              <a:rPr lang="en-US" altLang="zh-CN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Microsoft YaHei"/>
              </a:rPr>
              <a:t>Header </a:t>
            </a:r>
            <a:r>
              <a:rPr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Microsoft YaHei"/>
              </a:rPr>
              <a:t>：</a:t>
            </a:r>
            <a:r>
              <a:rPr lang="zh-CN" altLang="en-US" dirty="0"/>
              <a:t>保留原始 </a:t>
            </a:r>
            <a:r>
              <a:rPr lang="en-US" altLang="zh-CN" dirty="0"/>
              <a:t>Header Key </a:t>
            </a:r>
            <a:r>
              <a:rPr lang="zh-CN" altLang="en-US" dirty="0"/>
              <a:t>大小写，适配特殊服务端。</a:t>
            </a:r>
          </a:p>
          <a:p>
            <a:pPr>
              <a:defRPr sz="1019" b="0">
                <a:solidFill>
                  <a:srgbClr val="DAE7F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57" name="Rectangle 56"/>
          <p:cNvSpPr/>
          <p:nvPr/>
        </p:nvSpPr>
        <p:spPr>
          <a:xfrm>
            <a:off x="537325" y="2419141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74485" y="2345989"/>
            <a:ext cx="4297680" cy="35997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defRPr sz="1019" b="0">
                <a:solidFill>
                  <a:srgbClr val="DAE7F0"/>
                </a:solidFill>
                <a:latin typeface="Microsoft YaHei"/>
              </a:defRPr>
            </a:pPr>
            <a:r>
              <a:rPr lang="zh-CN" altLang="en-US" sz="1200" dirty="0">
                <a:solidFill>
                  <a:srgbClr val="92D050"/>
                </a:solidFill>
                <a:latin typeface="Microsoft YaHei"/>
              </a:rPr>
              <a:t>保留自定义 </a:t>
            </a:r>
            <a:r>
              <a:rPr lang="en-US" altLang="zh-CN" sz="1200" dirty="0">
                <a:solidFill>
                  <a:srgbClr val="92D050"/>
                </a:solidFill>
                <a:latin typeface="Microsoft YaHei"/>
              </a:rPr>
              <a:t>Header </a:t>
            </a:r>
            <a:r>
              <a:rPr dirty="0">
                <a:solidFill>
                  <a:srgbClr val="92D050"/>
                </a:solidFill>
              </a:rPr>
              <a:t>：</a:t>
            </a:r>
            <a:r>
              <a:rPr lang="zh-CN" altLang="en-US" dirty="0"/>
              <a:t>保留代理侧附加响应头，便于调试与联动。</a:t>
            </a:r>
          </a:p>
          <a:p>
            <a:pPr>
              <a:defRPr sz="1019" b="0">
                <a:solidFill>
                  <a:srgbClr val="DAE7F0"/>
                </a:solidFill>
                <a:latin typeface="Microsoft YaHei"/>
              </a:defRPr>
            </a:pPr>
            <a:endParaRPr dirty="0"/>
          </a:p>
        </p:txBody>
      </p:sp>
      <p:sp>
        <p:nvSpPr>
          <p:cNvPr id="7" name="Rectangle 56">
            <a:extLst>
              <a:ext uri="{FF2B5EF4-FFF2-40B4-BE49-F238E27FC236}">
                <a16:creationId xmlns:a16="http://schemas.microsoft.com/office/drawing/2014/main" id="{91C78E81-E33A-0200-A0B6-83598F0EB27D}"/>
              </a:ext>
            </a:extLst>
          </p:cNvPr>
          <p:cNvSpPr/>
          <p:nvPr/>
        </p:nvSpPr>
        <p:spPr>
          <a:xfrm>
            <a:off x="535184" y="2787175"/>
            <a:ext cx="64008" cy="64008"/>
          </a:xfrm>
          <a:prstGeom prst="rect">
            <a:avLst/>
          </a:prstGeom>
          <a:solidFill>
            <a:srgbClr val="12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57">
            <a:extLst>
              <a:ext uri="{FF2B5EF4-FFF2-40B4-BE49-F238E27FC236}">
                <a16:creationId xmlns:a16="http://schemas.microsoft.com/office/drawing/2014/main" id="{4D0B52D8-139B-7387-66A0-0D7EB9216391}"/>
              </a:ext>
            </a:extLst>
          </p:cNvPr>
          <p:cNvSpPr txBox="1"/>
          <p:nvPr/>
        </p:nvSpPr>
        <p:spPr>
          <a:xfrm>
            <a:off x="672344" y="2714023"/>
            <a:ext cx="4297680" cy="203133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>
              <a:defRPr sz="1019" b="0">
                <a:solidFill>
                  <a:srgbClr val="DAE7F0"/>
                </a:solidFill>
                <a:latin typeface="Microsoft YaHei"/>
              </a:defRPr>
            </a:pPr>
            <a:r>
              <a:rPr lang="zh-CN" altLang="en-US" sz="1200" dirty="0">
                <a:solidFill>
                  <a:schemeClr val="accent2"/>
                </a:solidFill>
                <a:latin typeface="Microsoft YaHei"/>
              </a:rPr>
              <a:t>隧道维持</a:t>
            </a:r>
            <a:r>
              <a:rPr sz="1200" dirty="0">
                <a:solidFill>
                  <a:schemeClr val="accent2"/>
                </a:solidFill>
                <a:latin typeface="Microsoft YaHei"/>
              </a:rPr>
              <a:t>：</a:t>
            </a:r>
            <a:r>
              <a:rPr lang="zh-CN" altLang="en-US" sz="1200" dirty="0">
                <a:solidFill>
                  <a:schemeClr val="accent2"/>
                </a:solidFill>
                <a:latin typeface="Microsoft YaHei"/>
              </a:rPr>
              <a:t> </a:t>
            </a:r>
            <a:r>
              <a:rPr lang="en-US" altLang="zh-CN" dirty="0"/>
              <a:t>HTTP/1.1 </a:t>
            </a:r>
            <a:r>
              <a:rPr lang="zh-CN" altLang="en-US" dirty="0"/>
              <a:t>长连接复用，提升非隧道代理性能。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5648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309563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前端控制台实现</a:t>
            </a:r>
            <a:endParaRPr lang="en-US" sz="2700" dirty="0"/>
          </a:p>
        </p:txBody>
      </p:sp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42963"/>
            <a:ext cx="762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5137" y="1304925"/>
            <a:ext cx="6524327" cy="1809750"/>
          </a:xfrm>
          <a:prstGeom prst="roundRect">
            <a:avLst>
              <a:gd name="adj" fmla="val 421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125" y="1543050"/>
            <a:ext cx="219075" cy="266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2500" y="1543050"/>
            <a:ext cx="118872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架构与技术栈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21432" y="19240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核心框架：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Vue 3 组件化模型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5"/>
          <p:cNvSpPr/>
          <p:nvPr/>
        </p:nvSpPr>
        <p:spPr>
          <a:xfrm>
            <a:off x="3759771" y="19240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状态/路由：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Pinia + Vue Router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21432" y="22669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实时通信：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WebSocket 数据推送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3759771" y="2266950"/>
            <a:ext cx="298094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数据可视化：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Chart.js </a:t>
            </a:r>
            <a:r>
              <a:rPr lang="en-US" sz="1350" dirty="0" err="1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实时速率曲线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18976" y="2609850"/>
            <a:ext cx="619048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D4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性能优化：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虚拟滚动组件渲染大型列表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Image 4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1025" y="3848100"/>
            <a:ext cx="6124575" cy="19431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4BDDF22-7E25-7E27-B66F-AFC76112525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A6306C6-43F0-7361-63DE-D293C4525C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219" y="2546350"/>
            <a:ext cx="8370379" cy="43116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EF95D360-745B-AF17-50B9-4C7228923D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-4762"/>
            <a:ext cx="12192000" cy="6862762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525935" y="2166938"/>
            <a:ext cx="488289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kern="0" spc="400" dirty="0">
                <a:solidFill>
                  <a:schemeClr val="bg1"/>
                </a:solidFill>
                <a:latin typeface="+mn-ea"/>
                <a:cs typeface="MiSans" pitchFamily="34" charset="-120"/>
              </a:rPr>
              <a:t>SYSTEM TESTING &amp; FUTURE OUTLOOK</a:t>
            </a:r>
            <a:endParaRPr lang="en-US" sz="13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62000" y="2738438"/>
            <a:ext cx="10725912" cy="13350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系统测试与</a:t>
            </a:r>
            <a:endParaRPr lang="en-US" sz="4200" dirty="0"/>
          </a:p>
          <a:p>
            <a:pPr marL="0" indent="0" algn="l">
              <a:lnSpc>
                <a:spcPts val="5250"/>
              </a:lnSpc>
              <a:buNone/>
            </a:pPr>
            <a:r>
              <a:rPr lang="en-US" sz="4200" b="1" kern="0" spc="-11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总结展望</a:t>
            </a:r>
            <a:endParaRPr lang="en-US" sz="4200" dirty="0"/>
          </a:p>
        </p:txBody>
      </p:sp>
      <p:sp>
        <p:nvSpPr>
          <p:cNvPr id="12" name="Shape 4"/>
          <p:cNvSpPr/>
          <p:nvPr/>
        </p:nvSpPr>
        <p:spPr>
          <a:xfrm>
            <a:off x="609600" y="2897950"/>
            <a:ext cx="0" cy="923925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89305CB-35DB-5DF2-9FC7-7F3CDA87424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81000" y="881063"/>
            <a:ext cx="914400" cy="57150"/>
          </a:xfrm>
          <a:prstGeom prst="roundRect">
            <a:avLst>
              <a:gd name="adj" fmla="val 1000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3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881063"/>
            <a:ext cx="914400" cy="571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714500" y="1276350"/>
            <a:ext cx="10096500" cy="952500"/>
          </a:xfrm>
          <a:prstGeom prst="roundRect">
            <a:avLst>
              <a:gd name="adj" fmla="val 12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3"/>
          <p:cNvSpPr/>
          <p:nvPr/>
        </p:nvSpPr>
        <p:spPr>
          <a:xfrm>
            <a:off x="1609725" y="1600200"/>
            <a:ext cx="57150" cy="304800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4"/>
          <p:cNvSpPr/>
          <p:nvPr/>
        </p:nvSpPr>
        <p:spPr>
          <a:xfrm>
            <a:off x="1952625" y="1562100"/>
            <a:ext cx="381000" cy="381000"/>
          </a:xfrm>
          <a:prstGeom prst="roundRect">
            <a:avLst>
              <a:gd name="adj" fmla="val 100000"/>
            </a:avLst>
          </a:prstGeom>
          <a:solidFill>
            <a:srgbClr val="06B6D4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4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028825" y="1638300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486025" y="1476375"/>
            <a:ext cx="6665976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主流消费级基准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2486025" y="1781175"/>
            <a:ext cx="6665976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采用 Intel i7-9750H CPU + 16GB 内存 + SSD 系统盘，确保结果具备典型参考价值与可复现性。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7"/>
          <p:cNvSpPr/>
          <p:nvPr/>
        </p:nvSpPr>
        <p:spPr>
          <a:xfrm>
            <a:off x="1714500" y="2419350"/>
            <a:ext cx="10096500" cy="952500"/>
          </a:xfrm>
          <a:prstGeom prst="roundRect">
            <a:avLst>
              <a:gd name="adj" fmla="val 12000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1609725" y="2743200"/>
            <a:ext cx="57150" cy="304800"/>
          </a:xfrm>
          <a:prstGeom prst="rect">
            <a:avLst/>
          </a:prstGeom>
          <a:solidFill>
            <a:srgbClr val="8B5CF6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1952625" y="2705100"/>
            <a:ext cx="381000" cy="381000"/>
          </a:xfrm>
          <a:prstGeom prst="roundRect">
            <a:avLst>
              <a:gd name="adj" fmla="val 100000"/>
            </a:avLst>
          </a:prstGeom>
          <a:solidFill>
            <a:srgbClr val="8B5CF6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5" descr="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28825" y="278130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486025" y="2619375"/>
            <a:ext cx="8019288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专用后端与标准载荷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2486025" y="2924175"/>
            <a:ext cx="8019288" cy="256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搭建 HTTP/HTTPS 测试后端（端口 9011/9012），</a:t>
            </a:r>
            <a:r>
              <a:rPr lang="en-US" sz="1200" dirty="0" err="1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使用</a:t>
            </a:r>
            <a:r>
              <a:rPr lang="en-US" sz="120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5MB </a:t>
            </a:r>
            <a:r>
              <a:rPr lang="zh-CN" altLang="en-US" sz="120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和</a:t>
            </a:r>
            <a:r>
              <a:rPr lang="en-US" altLang="zh-CN" sz="120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100M</a:t>
            </a:r>
            <a:r>
              <a:rPr lang="en-US" sz="120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预生成文件作为标准载荷，稳定评估中型数据包性能。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381000" y="3638550"/>
            <a:ext cx="3708350" cy="2838450"/>
          </a:xfrm>
          <a:prstGeom prst="roundRect">
            <a:avLst>
              <a:gd name="adj" fmla="val 4027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6" descr="image.png"/>
          <p:cNvPicPr>
            <a:picLocks noChangeAspect="1"/>
          </p:cNvPicPr>
          <p:nvPr/>
        </p:nvPicPr>
        <p:blipFill>
          <a:blip r:embed="rId7">
            <a:alphaModFix amt="10000"/>
          </a:blip>
          <a:srcRect/>
          <a:stretch/>
        </p:blipFill>
        <p:spPr>
          <a:xfrm>
            <a:off x="3355925" y="3762375"/>
            <a:ext cx="609600" cy="609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82588" y="3838575"/>
            <a:ext cx="3392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7E8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功能验证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582588" y="4181475"/>
            <a:ext cx="3319272" cy="2103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 HTTP 解析、配置管理、MinIO 流程等模块进行单元测试，确保基础逻辑正确无误。</a:t>
            </a:r>
            <a:endParaRPr lang="en-US" sz="1050" dirty="0"/>
          </a:p>
        </p:txBody>
      </p:sp>
      <p:sp>
        <p:nvSpPr>
          <p:cNvPr id="24" name="Text 15"/>
          <p:cNvSpPr/>
          <p:nvPr/>
        </p:nvSpPr>
        <p:spPr>
          <a:xfrm>
            <a:off x="4241750" y="3638550"/>
            <a:ext cx="3708350" cy="2838450"/>
          </a:xfrm>
          <a:prstGeom prst="roundRect">
            <a:avLst>
              <a:gd name="adj" fmla="val 4027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7" descr="image.png"/>
          <p:cNvPicPr>
            <a:picLocks noChangeAspect="1"/>
          </p:cNvPicPr>
          <p:nvPr/>
        </p:nvPicPr>
        <p:blipFill>
          <a:blip r:embed="rId8">
            <a:alphaModFix amt="10000"/>
          </a:blip>
          <a:srcRect/>
          <a:stretch/>
        </p:blipFill>
        <p:spPr>
          <a:xfrm>
            <a:off x="7216676" y="3762375"/>
            <a:ext cx="609600" cy="609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443338" y="3838575"/>
            <a:ext cx="3392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4B5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压力基准测试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4443338" y="4181475"/>
            <a:ext cx="3319272" cy="2103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测试 HTTP/HTTPS 在不同 MITM </a:t>
            </a:r>
            <a:r>
              <a:rPr lang="en-US" sz="1050" dirty="0" err="1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模式下的转发性能，对比已知长度与分块传输的效率差异</a:t>
            </a: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。</a:t>
            </a:r>
          </a:p>
          <a:p>
            <a:pPr marL="0" indent="0" algn="l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</a:rPr>
              <a:t>实际测试得：</a:t>
            </a:r>
            <a:endParaRPr lang="en-US" altLang="zh-CN" sz="1050" dirty="0">
              <a:solidFill>
                <a:schemeClr val="bg1"/>
              </a:solidFill>
            </a:endParaRPr>
          </a:p>
          <a:p>
            <a:pPr marL="0" indent="0" algn="l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</a:rPr>
              <a:t>可以在无网络延时情况下达到</a:t>
            </a:r>
            <a:r>
              <a:rPr lang="en-US" altLang="zh-CN" sz="1050" b="1" dirty="0">
                <a:solidFill>
                  <a:srgbClr val="EE0000"/>
                </a:solidFill>
              </a:rPr>
              <a:t>2000+ QPS</a:t>
            </a:r>
          </a:p>
          <a:p>
            <a:pPr marL="0" indent="0" algn="l">
              <a:lnSpc>
                <a:spcPts val="1706"/>
              </a:lnSpc>
              <a:buNone/>
            </a:pPr>
            <a:r>
              <a:rPr lang="en-US" altLang="zh-CN" sz="1050" b="1" dirty="0">
                <a:solidFill>
                  <a:srgbClr val="EE0000"/>
                </a:solidFill>
              </a:rPr>
              <a:t>1GB+ /s</a:t>
            </a:r>
            <a:r>
              <a:rPr lang="zh-CN" altLang="en-US" sz="1050" dirty="0">
                <a:solidFill>
                  <a:schemeClr val="bg1"/>
                </a:solidFill>
              </a:rPr>
              <a:t>的传输速率</a:t>
            </a:r>
            <a:endParaRPr lang="en-US" altLang="zh-CN" sz="1050" dirty="0">
              <a:solidFill>
                <a:schemeClr val="bg1"/>
              </a:solidFill>
            </a:endParaRPr>
          </a:p>
          <a:p>
            <a:pPr marL="0" indent="0" algn="l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</a:rPr>
              <a:t>在启用</a:t>
            </a:r>
            <a:r>
              <a:rPr lang="en-US" altLang="zh-CN" sz="1050" dirty="0">
                <a:solidFill>
                  <a:schemeClr val="bg1"/>
                </a:solidFill>
              </a:rPr>
              <a:t>MITM</a:t>
            </a:r>
            <a:r>
              <a:rPr lang="zh-CN" altLang="en-US" sz="1050" dirty="0">
                <a:solidFill>
                  <a:schemeClr val="bg1"/>
                </a:solidFill>
              </a:rPr>
              <a:t>后能达到</a:t>
            </a:r>
            <a:r>
              <a:rPr lang="en-US" altLang="zh-CN" sz="1050" b="1" dirty="0">
                <a:solidFill>
                  <a:srgbClr val="EE0000"/>
                </a:solidFill>
              </a:rPr>
              <a:t>10 QPS </a:t>
            </a:r>
            <a:r>
              <a:rPr lang="zh-CN" altLang="en-US" sz="1050" dirty="0">
                <a:solidFill>
                  <a:schemeClr val="bg1"/>
                </a:solidFill>
              </a:rPr>
              <a:t>，</a:t>
            </a:r>
            <a:r>
              <a:rPr lang="en-US" altLang="zh-CN" sz="1050" b="1" dirty="0">
                <a:solidFill>
                  <a:srgbClr val="EE0000"/>
                </a:solidFill>
              </a:rPr>
              <a:t>100 MB+/s</a:t>
            </a:r>
            <a:r>
              <a:rPr lang="zh-CN" altLang="en-US" sz="1050" dirty="0">
                <a:solidFill>
                  <a:schemeClr val="bg1"/>
                </a:solidFill>
              </a:rPr>
              <a:t>的传输速率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8" name="Text 18"/>
          <p:cNvSpPr/>
          <p:nvPr/>
        </p:nvSpPr>
        <p:spPr>
          <a:xfrm>
            <a:off x="8102501" y="3638550"/>
            <a:ext cx="3708350" cy="2838450"/>
          </a:xfrm>
          <a:prstGeom prst="roundRect">
            <a:avLst>
              <a:gd name="adj" fmla="val 4027"/>
            </a:avLst>
          </a:prstGeom>
          <a:solidFill>
            <a:srgbClr val="1E293B">
              <a:alpha val="60000"/>
            </a:srgbClr>
          </a:solidFill>
          <a:ln w="9525">
            <a:solidFill>
              <a:srgbClr val="FFFFFF">
                <a:alpha val="10000"/>
              </a:srgbClr>
            </a:solidFill>
          </a:ln>
          <a:effectLst>
            <a:outerShdw blurRad="304800" dist="7620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8" descr="image.png"/>
          <p:cNvPicPr>
            <a:picLocks noChangeAspect="1"/>
          </p:cNvPicPr>
          <p:nvPr/>
        </p:nvPicPr>
        <p:blipFill>
          <a:blip r:embed="rId9">
            <a:alphaModFix amt="10000"/>
          </a:blip>
          <a:srcRect/>
          <a:stretch/>
        </p:blipFill>
        <p:spPr>
          <a:xfrm>
            <a:off x="11077426" y="3762375"/>
            <a:ext cx="609600" cy="6096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304088" y="3838575"/>
            <a:ext cx="3392424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资源与稳定性剖析</a:t>
            </a:r>
            <a:endParaRPr lang="en-US" sz="1350" dirty="0"/>
          </a:p>
        </p:txBody>
      </p:sp>
      <p:sp>
        <p:nvSpPr>
          <p:cNvPr id="31" name="Text 20"/>
          <p:cNvSpPr/>
          <p:nvPr/>
        </p:nvSpPr>
        <p:spPr>
          <a:xfrm>
            <a:off x="8304088" y="4181475"/>
            <a:ext cx="3319272" cy="2103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706"/>
              </a:lnSpc>
              <a:buNone/>
            </a:pP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利用 pprof 采集 CPU/内存剖面，结合 goleak </a:t>
            </a:r>
            <a:r>
              <a:rPr lang="en-US" sz="1050" dirty="0" err="1">
                <a:solidFill>
                  <a:srgbClr val="C8D6E5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检查协程泄漏，精准定位性能瓶颈</a:t>
            </a:r>
            <a:r>
              <a:rPr lang="en-US" sz="1050" dirty="0">
                <a:solidFill>
                  <a:srgbClr val="C8D6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</a:p>
          <a:p>
            <a:pPr marL="0" indent="0" algn="l">
              <a:lnSpc>
                <a:spcPts val="1706"/>
              </a:lnSpc>
              <a:buNone/>
            </a:pPr>
            <a:endParaRPr lang="en-US" sz="1050" dirty="0">
              <a:solidFill>
                <a:srgbClr val="C8D6E5">
                  <a:alpha val="90000"/>
                </a:srgbClr>
              </a:solidFill>
              <a:latin typeface="MiSans" pitchFamily="34" charset="0"/>
              <a:ea typeface="MiSans" pitchFamily="34" charset="-122"/>
            </a:endParaRPr>
          </a:p>
          <a:p>
            <a:pPr marL="0" indent="0" algn="l">
              <a:lnSpc>
                <a:spcPts val="1706"/>
              </a:lnSpc>
              <a:buNone/>
            </a:pPr>
            <a:r>
              <a:rPr lang="zh-CN" altLang="en-US" sz="1050" dirty="0">
                <a:solidFill>
                  <a:schemeClr val="bg1"/>
                </a:solidFill>
              </a:rPr>
              <a:t>内存占用稳定，</a:t>
            </a:r>
            <a:r>
              <a:rPr lang="en-US" altLang="zh-CN" sz="1050" dirty="0">
                <a:solidFill>
                  <a:schemeClr val="bg1"/>
                </a:solidFill>
              </a:rPr>
              <a:t>100M</a:t>
            </a:r>
            <a:r>
              <a:rPr lang="zh-CN" altLang="en-US" sz="1050" dirty="0">
                <a:solidFill>
                  <a:schemeClr val="bg1"/>
                </a:solidFill>
              </a:rPr>
              <a:t>大文件并发测试下，稳定占用</a:t>
            </a:r>
            <a:r>
              <a:rPr lang="en-US" altLang="zh-CN" sz="1050" dirty="0">
                <a:solidFill>
                  <a:schemeClr val="bg1"/>
                </a:solidFill>
              </a:rPr>
              <a:t>10M</a:t>
            </a:r>
            <a:r>
              <a:rPr lang="zh-CN" altLang="en-US" sz="1050" dirty="0">
                <a:solidFill>
                  <a:schemeClr val="bg1"/>
                </a:solidFill>
              </a:rPr>
              <a:t>内存。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2" name="Text 21"/>
          <p:cNvSpPr/>
          <p:nvPr/>
        </p:nvSpPr>
        <p:spPr>
          <a:xfrm>
            <a:off x="381000" y="300038"/>
            <a:ext cx="11695176" cy="4297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60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测试环境与方法</a:t>
            </a:r>
            <a:endParaRPr lang="en-US" sz="2700" dirty="0"/>
          </a:p>
        </p:txBody>
      </p:sp>
      <p:sp>
        <p:nvSpPr>
          <p:cNvPr id="33" name="Text 22"/>
          <p:cNvSpPr/>
          <p:nvPr/>
        </p:nvSpPr>
        <p:spPr>
          <a:xfrm>
            <a:off x="521940" y="1552575"/>
            <a:ext cx="963960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06B6D4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3"/>
          <p:cNvSpPr/>
          <p:nvPr/>
        </p:nvSpPr>
        <p:spPr>
          <a:xfrm>
            <a:off x="522908" y="1552575"/>
            <a:ext cx="978408" cy="402336"/>
          </a:xfrm>
          <a:prstGeom prst="rect">
            <a:avLst/>
          </a:prstGeom>
          <a:noFill/>
          <a:ln/>
        </p:spPr>
        <p:txBody>
          <a:bodyPr vert="horz" wrap="square" lIns="152400" tIns="76200" rIns="152400" bIns="7620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kern="0" spc="60" dirty="0">
                <a:solidFill>
                  <a:srgbClr val="22D3E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硬件环境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381000" y="2581275"/>
            <a:ext cx="110490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5"/>
          <p:cNvSpPr/>
          <p:nvPr/>
        </p:nvSpPr>
        <p:spPr>
          <a:xfrm>
            <a:off x="381000" y="2581275"/>
            <a:ext cx="1124712" cy="630936"/>
          </a:xfrm>
          <a:prstGeom prst="rect">
            <a:avLst/>
          </a:prstGeom>
          <a:noFill/>
          <a:ln/>
        </p:spPr>
        <p:txBody>
          <a:bodyPr vert="horz" wrap="square" lIns="152400" tIns="76200" rIns="152400" bIns="7620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200" b="1" kern="0" spc="60" dirty="0">
                <a:solidFill>
                  <a:srgbClr val="A78B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软件与数据</a:t>
            </a:r>
            <a:endParaRPr lang="en-US" sz="12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EAA5B34B-22AC-B8C3-9004-F36F039A6EB2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000" y="847725"/>
            <a:ext cx="914400" cy="5715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81000" y="1304925"/>
            <a:ext cx="4584650" cy="4562475"/>
          </a:xfrm>
          <a:prstGeom prst="roundRect">
            <a:avLst>
              <a:gd name="adj" fmla="val 2505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695325" y="1504950"/>
            <a:ext cx="1426464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系统完成情况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595545" y="2698305"/>
            <a:ext cx="408736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核心功能完备：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实现HTTP/HTTPS代理转发、MITM解析、规则路由及实时流量统计。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595545" y="3384105"/>
            <a:ext cx="408736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工程实践价值：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后端Go高并发设计，前端Vue3 + WebSocket推送，集成MinIO对象存储。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95545" y="4069905"/>
            <a:ext cx="4087368" cy="5394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测试验证通过：</a:t>
            </a:r>
            <a:r>
              <a:rPr 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经过解析器、配置管理及压力基准测试，功能运行稳定。</a:t>
            </a:r>
            <a:endParaRPr lang="en-US" sz="1350" dirty="0"/>
          </a:p>
        </p:txBody>
      </p:sp>
      <p:pic>
        <p:nvPicPr>
          <p:cNvPr id="10" name="Image 3" descr="image.png"/>
          <p:cNvPicPr>
            <a:picLocks noChangeAspect="1"/>
          </p:cNvPicPr>
          <p:nvPr/>
        </p:nvPicPr>
        <p:blipFill>
          <a:blip r:embed="rId6">
            <a:alphaModFix amt="10000"/>
          </a:blip>
          <a:srcRect/>
          <a:stretch/>
        </p:blipFill>
        <p:spPr>
          <a:xfrm>
            <a:off x="5181451" y="2671763"/>
            <a:ext cx="1828800" cy="1828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14851" y="3071813"/>
            <a:ext cx="7620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4" descr="image.png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724376" y="3081338"/>
            <a:ext cx="742950" cy="742950"/>
          </a:xfrm>
          <a:prstGeom prst="rect">
            <a:avLst/>
          </a:prstGeom>
        </p:spPr>
      </p:pic>
      <p:pic>
        <p:nvPicPr>
          <p:cNvPr id="13" name="Image 5" descr="image.png"/>
          <p:cNvPicPr>
            <a:picLocks noChangeAspect="1"/>
          </p:cNvPicPr>
          <p:nvPr/>
        </p:nvPicPr>
        <p:blipFill>
          <a:blip r:embed="rId9">
            <a:alphaModFix amt="30000"/>
          </a:blip>
          <a:srcRect/>
          <a:stretch/>
        </p:blipFill>
        <p:spPr>
          <a:xfrm>
            <a:off x="5270450" y="3586163"/>
            <a:ext cx="1647825" cy="95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226201" y="1304925"/>
            <a:ext cx="4584799" cy="4562475"/>
          </a:xfrm>
          <a:prstGeom prst="roundRect">
            <a:avLst>
              <a:gd name="adj" fmla="val 2505"/>
            </a:avLst>
          </a:prstGeom>
          <a:solidFill>
            <a:srgbClr val="0F172A">
              <a:alpha val="60000"/>
            </a:srgbClr>
          </a:solidFill>
          <a:ln w="9525">
            <a:solidFill>
              <a:srgbClr val="00D4FF">
                <a:alpha val="2000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7540526" y="1504950"/>
            <a:ext cx="1197864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局限与展望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7426226" y="381952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9"/>
          <p:cNvSpPr/>
          <p:nvPr/>
        </p:nvSpPr>
        <p:spPr>
          <a:xfrm>
            <a:off x="7427863" y="3724275"/>
            <a:ext cx="4206240" cy="539496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功能深化：</a:t>
            </a:r>
            <a:r>
              <a:rPr lang="en-US" sz="1350" dirty="0">
                <a:solidFill>
                  <a:srgbClr val="C8D6E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Sans" pitchFamily="34" charset="-120"/>
              </a:rPr>
              <a:t> 扩展HTTP/2、QUIC协议支持，增强规则引擎与多用户权限管理。</a:t>
            </a:r>
            <a:endParaRPr 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426226" y="446722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1"/>
          <p:cNvSpPr/>
          <p:nvPr/>
        </p:nvSpPr>
        <p:spPr>
          <a:xfrm>
            <a:off x="7427863" y="4371975"/>
            <a:ext cx="4206240" cy="539496"/>
          </a:xfrm>
          <a:prstGeom prst="rect">
            <a:avLst/>
          </a:prstGeom>
          <a:noFill/>
          <a:ln/>
        </p:spPr>
        <p:txBody>
          <a:bodyPr vert="horz" wrap="square" lIns="22860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r>
              <a:rPr lang="en-US" sz="13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350" dirty="0">
                <a:solidFill>
                  <a:srgbClr val="C8D6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持久化存储数据，按需灵活存储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7426226" y="5114925"/>
            <a:ext cx="57150" cy="57150"/>
          </a:xfrm>
          <a:prstGeom prst="roundRect">
            <a:avLst>
              <a:gd name="adj" fmla="val 96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6" descr="image.png"/>
          <p:cNvPicPr>
            <a:picLocks noChangeAspect="1"/>
          </p:cNvPicPr>
          <p:nvPr/>
        </p:nvPicPr>
        <p:blipFill>
          <a:blip r:embed="rId10">
            <a:alphaModFix amt="50000"/>
          </a:blip>
          <a:srcRect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514826" y="3910013"/>
            <a:ext cx="1207008" cy="19202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ui-sans-serif" pitchFamily="34" charset="-120"/>
              </a:rPr>
              <a:t>INTEGRATION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381000" y="995363"/>
            <a:ext cx="11430000" cy="0"/>
          </a:xfrm>
          <a:prstGeom prst="line">
            <a:avLst/>
          </a:prstGeom>
          <a:noFill/>
          <a:ln w="9525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6"/>
          <p:cNvSpPr/>
          <p:nvPr/>
        </p:nvSpPr>
        <p:spPr>
          <a:xfrm>
            <a:off x="381000" y="352425"/>
            <a:ext cx="11695176" cy="3840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E0F7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系统总结与未来展望</a:t>
            </a:r>
            <a:endParaRPr lang="en-US" sz="27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59E36AA0-5CC7-9BF7-7A35-D634DAD64A4F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162701"/>
              </a:clrFrom>
              <a:clrTo>
                <a:srgbClr val="162701">
                  <a:alpha val="0"/>
                </a:srgbClr>
              </a:clrTo>
            </a:clrChange>
            <a:alphaModFix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98276" l="4000" r="99200">
                        <a14:foregroundMark x1="36000" y1="25862" x2="36000" y2="25862"/>
                        <a14:foregroundMark x1="33301" y1="16374" x2="32000" y2="27586"/>
                        <a14:foregroundMark x1="51647" y1="16249" x2="30400" y2="60345"/>
                        <a14:foregroundMark x1="30400" y1="60345" x2="66400" y2="77586"/>
                        <a14:foregroundMark x1="66400" y1="77586" x2="58400" y2="21552"/>
                        <a14:foregroundMark x1="58400" y1="21552" x2="21388" y2="39410"/>
                        <a14:foregroundMark x1="20626" y1="62728" x2="41758" y2="83176"/>
                        <a14:foregroundMark x1="50252" y1="82368" x2="78400" y2="68966"/>
                        <a14:foregroundMark x1="78400" y1="68966" x2="72800" y2="26724"/>
                        <a14:foregroundMark x1="51996" y1="15515" x2="50686" y2="14809"/>
                        <a14:foregroundMark x1="72800" y1="26724" x2="53453" y2="16300"/>
                        <a14:foregroundMark x1="33130" y1="14204" x2="31016" y2="15084"/>
                        <a14:foregroundMark x1="21710" y1="78496" x2="33600" y2="89655"/>
                        <a14:foregroundMark x1="33600" y1="89655" x2="36980" y2="89200"/>
                        <a14:foregroundMark x1="37741" y1="6183" x2="36159" y2="6380"/>
                        <a14:foregroundMark x1="27641" y1="18047" x2="26058" y2="19279"/>
                        <a14:foregroundMark x1="33575" y1="13429" x2="30649" y2="15706"/>
                        <a14:foregroundMark x1="33738" y1="13146" x2="31531" y2="14214"/>
                        <a14:foregroundMark x1="38667" y1="4573" x2="36266" y2="6199"/>
                        <a14:foregroundMark x1="35251" y1="10515" x2="32915" y2="11870"/>
                        <a14:foregroundMark x1="21962" y1="82167" x2="39612" y2="93406"/>
                        <a14:foregroundMark x1="57736" y1="2547" x2="59233" y2="3469"/>
                        <a14:backgroundMark x1="12000" y1="13793" x2="12000" y2="13793"/>
                        <a14:backgroundMark x1="4000" y1="6034" x2="2400" y2="30172"/>
                        <a14:backgroundMark x1="10400" y1="11207" x2="2400" y2="45690"/>
                        <a14:backgroundMark x1="2400" y1="45690" x2="5600" y2="92241"/>
                        <a14:backgroundMark x1="8800" y1="4310" x2="0" y2="6897"/>
                        <a14:backgroundMark x1="16800" y1="2586" x2="38400" y2="2586"/>
                        <a14:backgroundMark x1="40800" y1="862" x2="59200" y2="0"/>
                        <a14:backgroundMark x1="60800" y1="862" x2="91200" y2="1724"/>
                        <a14:backgroundMark x1="86400" y1="9483" x2="98400" y2="26724"/>
                        <a14:backgroundMark x1="95200" y1="21552" x2="97600" y2="67241"/>
                        <a14:backgroundMark x1="96800" y1="58621" x2="96000" y2="95690"/>
                        <a14:backgroundMark x1="92800" y1="82759" x2="70400" y2="96552"/>
                        <a14:backgroundMark x1="70400" y1="96552" x2="43200" y2="9913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6480" y="234677"/>
            <a:ext cx="1560582" cy="1448220"/>
          </a:xfrm>
          <a:prstGeom prst="rect">
            <a:avLst/>
          </a:prstGeom>
          <a:noFill/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F6ED25AB-189B-7AFD-F147-90E9F6AA1C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backgroundMark x1="11722" y1="21930" x2="11722" y2="21930"/>
                        <a14:backgroundMark x1="11722" y1="21930" x2="11722" y2="21930"/>
                        <a14:backgroundMark x1="11722" y1="21930" x2="40271" y2="16427"/>
                        <a14:backgroundMark x1="8134" y1="4466" x2="38437" y2="25758"/>
                        <a14:backgroundMark x1="32695" y1="9330" x2="22010" y2="298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14851" y="3087370"/>
            <a:ext cx="745491" cy="745491"/>
          </a:xfrm>
          <a:prstGeom prst="rect">
            <a:avLst/>
          </a:prstGeom>
        </p:spPr>
      </p:pic>
    </p:spTree>
  </p:cSld>
  <p:clrMapOvr>
    <a:masterClrMapping/>
  </p:clrMapOvr>
  <p:extLst mod="1">
    <p:ext uri="{BAIDU-WENKU-EXT-INFO}">
      <p:tag xmlns="" xmlns:ooxmlsdkcls="c:P_CT_StringTag" name="ai-mark" val="1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2025</TotalTime>
  <Words>1749</Words>
  <Application>Microsoft Office PowerPoint</Application>
  <PresentationFormat>宽屏</PresentationFormat>
  <Paragraphs>384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MiSans</vt:lpstr>
      <vt:lpstr>ui-sans-serif</vt:lpstr>
      <vt:lpstr>黑体</vt:lpstr>
      <vt:lpstr>微软雅黑</vt:lpstr>
      <vt:lpstr>微软雅黑</vt:lpstr>
      <vt:lpstr>Arial</vt:lpstr>
      <vt:lpstr>Calibri</vt:lpstr>
      <vt:lpstr>Calibri Light</vt:lpstr>
      <vt:lpstr>Lucida Fax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子谊 郭</cp:lastModifiedBy>
  <cp:revision>123</cp:revision>
  <dcterms:created xsi:type="dcterms:W3CDTF">2026-05-18T06:55:46Z</dcterms:created>
  <dcterms:modified xsi:type="dcterms:W3CDTF">2026-05-23T12:16:09Z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b64f62465142842458fb770bf78a6529657d356d_1779087347_b77714988682a9867949c0d867e1d195","ReservedCode1":"cf6cd6f41cb0ae7a047da91f36ff1db277090bce2fb12ebabcaab82ffb8de02c","ContentPropagator":"001191110000802100433B10001","PropagateID":"b64f62465142842458fb770bf78a6529657d356d_1779087347_b77714988682a9867949c0d867e1d195","ReservedCode2":"cf6cd6f41cb0ae7a047da91f36ff1db277090bce2fb12ebabcaab82ffb8de02c"}</vt:lpwstr>
  </property>
</Properties>
</file>